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sldSz cx="18288000" cy="10287000"/>
  <p:notesSz cx="6858000" cy="9144000"/>
  <p:embeddedFontLst>
    <p:embeddedFont>
      <p:font typeface="AC Diary Girl" panose="020B0604020202020204" charset="-95"/>
      <p:regular r:id="rId13"/>
    </p:embeddedFont>
    <p:embeddedFont>
      <p:font typeface="Nunito" pitchFamily="2" charset="0"/>
      <p:regular r:id="rId14"/>
    </p:embeddedFont>
    <p:embeddedFont>
      <p:font typeface="Nunito Bold" charset="0"/>
      <p:regular r:id="rId15"/>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94622" autoAdjust="0"/>
  </p:normalViewPr>
  <p:slideViewPr>
    <p:cSldViewPr>
      <p:cViewPr varScale="1">
        <p:scale>
          <a:sx n="56" d="100"/>
          <a:sy n="56" d="100"/>
        </p:scale>
        <p:origin x="300" y="108"/>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font" Target="fonts/font1.fntdata"/><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font" Target="fonts/font3.fntdata"/><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font" Target="fonts/font2.fntdata"/></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4/24/2026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4/24/2026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4/24/2026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4/24/2026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4/24/2026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4/24/2026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4/24/2026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4/24/2026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4/24/2026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4/24/2026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4/24/2026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4/24/2026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jpeg"/><Relationship Id="rId1" Type="http://schemas.openxmlformats.org/officeDocument/2006/relationships/slideLayout" Target="../slideLayouts/slideLayout7.xml"/><Relationship Id="rId6" Type="http://schemas.openxmlformats.org/officeDocument/2006/relationships/image" Target="../media/image5.svg"/><Relationship Id="rId5" Type="http://schemas.openxmlformats.org/officeDocument/2006/relationships/image" Target="../media/image4.svg"/><Relationship Id="rId4" Type="http://schemas.openxmlformats.org/officeDocument/2006/relationships/image" Target="../media/image3.svg"/></Relationships>
</file>

<file path=ppt/slides/_rels/slide2.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1.jpe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1.jpeg"/><Relationship Id="rId1" Type="http://schemas.openxmlformats.org/officeDocument/2006/relationships/slideLayout" Target="../slideLayouts/slideLayout7.xml"/><Relationship Id="rId4" Type="http://schemas.openxmlformats.org/officeDocument/2006/relationships/image" Target="../media/image8.svg"/></Relationships>
</file>

<file path=ppt/slides/_rels/slide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1.jpeg"/><Relationship Id="rId1" Type="http://schemas.openxmlformats.org/officeDocument/2006/relationships/slideLayout" Target="../slideLayouts/slideLayout7.xml"/><Relationship Id="rId4" Type="http://schemas.openxmlformats.org/officeDocument/2006/relationships/image" Target="../media/image4.svg"/></Relationships>
</file>

<file path=ppt/slides/_rels/slide5.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1.jpe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1.jpe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1.jpe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1.jpe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1.jpeg"/><Relationship Id="rId1" Type="http://schemas.openxmlformats.org/officeDocument/2006/relationships/slideLayout" Target="../slideLayouts/slideLayout7.xml"/><Relationship Id="rId5" Type="http://schemas.openxmlformats.org/officeDocument/2006/relationships/image" Target="../media/image8.svg"/><Relationship Id="rId4" Type="http://schemas.openxmlformats.org/officeDocument/2006/relationships/image" Target="../media/image9.png"/></Relationships>
</file>

<file path=ppt/slides/_rels/slide10.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1.jpe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1.jpeg"/><Relationship Id="rId1" Type="http://schemas.openxmlformats.org/officeDocument/2006/relationships/slideLayout" Target="../slideLayouts/slideLayout7.xml"/><Relationship Id="rId5" Type="http://schemas.openxmlformats.org/officeDocument/2006/relationships/image" Target="../media/image5.svg"/><Relationship Id="rId4" Type="http://schemas.openxmlformats.org/officeDocument/2006/relationships/image" Target="../media/image4.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t="-83416" b="-83416"/>
            </a:stretch>
          </a:blipFill>
        </p:spPr>
      </p:sp>
      <p:sp>
        <p:nvSpPr>
          <p:cNvPr id="3" name="Freeform 3"/>
          <p:cNvSpPr/>
          <p:nvPr/>
        </p:nvSpPr>
        <p:spPr>
          <a:xfrm rot="-465442">
            <a:off x="15105791" y="2458225"/>
            <a:ext cx="2013817" cy="2206373"/>
          </a:xfrm>
          <a:custGeom>
            <a:avLst/>
            <a:gdLst/>
            <a:ahLst/>
            <a:cxnLst/>
            <a:rect l="l" t="t" r="r" b="b"/>
            <a:pathLst>
              <a:path w="2013817" h="2206373">
                <a:moveTo>
                  <a:pt x="0" y="0"/>
                </a:moveTo>
                <a:lnTo>
                  <a:pt x="2013817" y="0"/>
                </a:lnTo>
                <a:lnTo>
                  <a:pt x="2013817" y="2206373"/>
                </a:lnTo>
                <a:lnTo>
                  <a:pt x="0" y="2206373"/>
                </a:lnTo>
                <a:lnTo>
                  <a:pt x="0" y="0"/>
                </a:lnTo>
                <a:close/>
              </a:path>
            </a:pathLst>
          </a:custGeom>
          <a:blipFill>
            <a:blip>
              <a:extLst>
                <a:ext uri="{96DAC541-7B7A-43D3-8B79-37D633B846F1}">
                  <asvg:svgBlip xmlns:asvg="http://schemas.microsoft.com/office/drawing/2016/SVG/main" r:embed="rId3"/>
                </a:ext>
              </a:extLst>
            </a:blip>
            <a:stretch>
              <a:fillRect/>
            </a:stretch>
          </a:blipFill>
        </p:spPr>
      </p:sp>
      <p:sp>
        <p:nvSpPr>
          <p:cNvPr id="4" name="Freeform 4"/>
          <p:cNvSpPr/>
          <p:nvPr/>
        </p:nvSpPr>
        <p:spPr>
          <a:xfrm>
            <a:off x="-334072" y="-1475968"/>
            <a:ext cx="3808435" cy="4114800"/>
          </a:xfrm>
          <a:custGeom>
            <a:avLst/>
            <a:gdLst/>
            <a:ahLst/>
            <a:cxnLst/>
            <a:rect l="l" t="t" r="r" b="b"/>
            <a:pathLst>
              <a:path w="3808435" h="4114800">
                <a:moveTo>
                  <a:pt x="0" y="0"/>
                </a:moveTo>
                <a:lnTo>
                  <a:pt x="3808435" y="0"/>
                </a:lnTo>
                <a:lnTo>
                  <a:pt x="3808435" y="4114800"/>
                </a:lnTo>
                <a:lnTo>
                  <a:pt x="0" y="4114800"/>
                </a:lnTo>
                <a:lnTo>
                  <a:pt x="0" y="0"/>
                </a:lnTo>
                <a:close/>
              </a:path>
            </a:pathLst>
          </a:custGeom>
          <a:blipFill>
            <a:blip>
              <a:extLst>
                <a:ext uri="{96DAC541-7B7A-43D3-8B79-37D633B846F1}">
                  <asvg:svgBlip xmlns:asvg="http://schemas.microsoft.com/office/drawing/2016/SVG/main" r:embed="rId4"/>
                </a:ext>
              </a:extLst>
            </a:blip>
            <a:stretch>
              <a:fillRect/>
            </a:stretch>
          </a:blipFill>
        </p:spPr>
      </p:sp>
      <p:sp>
        <p:nvSpPr>
          <p:cNvPr id="5" name="Freeform 5"/>
          <p:cNvSpPr/>
          <p:nvPr/>
        </p:nvSpPr>
        <p:spPr>
          <a:xfrm>
            <a:off x="13825094" y="8627655"/>
            <a:ext cx="3434206" cy="630645"/>
          </a:xfrm>
          <a:custGeom>
            <a:avLst/>
            <a:gdLst/>
            <a:ahLst/>
            <a:cxnLst/>
            <a:rect l="l" t="t" r="r" b="b"/>
            <a:pathLst>
              <a:path w="3434206" h="630645">
                <a:moveTo>
                  <a:pt x="0" y="0"/>
                </a:moveTo>
                <a:lnTo>
                  <a:pt x="3434206" y="0"/>
                </a:lnTo>
                <a:lnTo>
                  <a:pt x="3434206" y="630645"/>
                </a:lnTo>
                <a:lnTo>
                  <a:pt x="0" y="630645"/>
                </a:lnTo>
                <a:lnTo>
                  <a:pt x="0" y="0"/>
                </a:lnTo>
                <a:close/>
              </a:path>
            </a:pathLst>
          </a:custGeom>
          <a:blipFill>
            <a:blip>
              <a:extLst>
                <a:ext uri="{96DAC541-7B7A-43D3-8B79-37D633B846F1}">
                  <asvg:svgBlip xmlns:asvg="http://schemas.microsoft.com/office/drawing/2016/SVG/main" r:embed="rId5"/>
                </a:ext>
              </a:extLst>
            </a:blip>
            <a:stretch>
              <a:fillRect/>
            </a:stretch>
          </a:blipFill>
        </p:spPr>
      </p:sp>
      <p:sp>
        <p:nvSpPr>
          <p:cNvPr id="6" name="Freeform 6"/>
          <p:cNvSpPr/>
          <p:nvPr/>
        </p:nvSpPr>
        <p:spPr>
          <a:xfrm rot="-537417">
            <a:off x="1699513" y="6606455"/>
            <a:ext cx="3549699" cy="2562238"/>
          </a:xfrm>
          <a:custGeom>
            <a:avLst/>
            <a:gdLst/>
            <a:ahLst/>
            <a:cxnLst/>
            <a:rect l="l" t="t" r="r" b="b"/>
            <a:pathLst>
              <a:path w="3549699" h="2562238">
                <a:moveTo>
                  <a:pt x="0" y="0"/>
                </a:moveTo>
                <a:lnTo>
                  <a:pt x="3549700" y="0"/>
                </a:lnTo>
                <a:lnTo>
                  <a:pt x="3549700" y="2562237"/>
                </a:lnTo>
                <a:lnTo>
                  <a:pt x="0" y="2562237"/>
                </a:lnTo>
                <a:lnTo>
                  <a:pt x="0" y="0"/>
                </a:lnTo>
                <a:close/>
              </a:path>
            </a:pathLst>
          </a:custGeom>
          <a:blipFill>
            <a:blip>
              <a:extLst>
                <a:ext uri="{96DAC541-7B7A-43D3-8B79-37D633B846F1}">
                  <asvg:svgBlip xmlns:asvg="http://schemas.microsoft.com/office/drawing/2016/SVG/main" r:embed="rId6"/>
                </a:ext>
              </a:extLst>
            </a:blip>
            <a:stretch>
              <a:fillRect/>
            </a:stretch>
          </a:blipFill>
        </p:spPr>
      </p:sp>
      <p:sp>
        <p:nvSpPr>
          <p:cNvPr id="7" name="TextBox 7"/>
          <p:cNvSpPr txBox="1"/>
          <p:nvPr/>
        </p:nvSpPr>
        <p:spPr>
          <a:xfrm>
            <a:off x="2415272" y="3409011"/>
            <a:ext cx="12827508" cy="1957222"/>
          </a:xfrm>
          <a:prstGeom prst="rect">
            <a:avLst/>
          </a:prstGeom>
        </p:spPr>
        <p:txBody>
          <a:bodyPr lIns="0" tIns="0" rIns="0" bIns="0" rtlCol="0" anchor="t">
            <a:spAutoFit/>
          </a:bodyPr>
          <a:lstStyle/>
          <a:p>
            <a:pPr algn="ctr">
              <a:lnSpc>
                <a:spcPts val="7652"/>
              </a:lnSpc>
            </a:pPr>
            <a:r>
              <a:rPr lang="en-US" sz="5465">
                <a:solidFill>
                  <a:srgbClr val="337271"/>
                </a:solidFill>
                <a:latin typeface="AC Diary Girl"/>
                <a:ea typeface="AC Diary Girl"/>
                <a:cs typeface="AC Diary Girl"/>
                <a:sym typeface="AC Diary Girl"/>
              </a:rPr>
              <a:t>Azure End-to-End Lakehouse Data Engineering Pipeline</a:t>
            </a:r>
          </a:p>
        </p:txBody>
      </p:sp>
      <p:sp>
        <p:nvSpPr>
          <p:cNvPr id="8" name="TextBox 8"/>
          <p:cNvSpPr txBox="1"/>
          <p:nvPr/>
        </p:nvSpPr>
        <p:spPr>
          <a:xfrm>
            <a:off x="5067465" y="5676402"/>
            <a:ext cx="7523120" cy="669344"/>
          </a:xfrm>
          <a:prstGeom prst="rect">
            <a:avLst/>
          </a:prstGeom>
        </p:spPr>
        <p:txBody>
          <a:bodyPr lIns="0" tIns="0" rIns="0" bIns="0" rtlCol="0" anchor="t">
            <a:spAutoFit/>
          </a:bodyPr>
          <a:lstStyle/>
          <a:p>
            <a:pPr algn="ctr">
              <a:lnSpc>
                <a:spcPts val="5471"/>
              </a:lnSpc>
            </a:pPr>
            <a:r>
              <a:rPr lang="en-US" sz="3908">
                <a:solidFill>
                  <a:srgbClr val="337271"/>
                </a:solidFill>
                <a:latin typeface="Nunito"/>
                <a:ea typeface="Nunito"/>
                <a:cs typeface="Nunito"/>
                <a:sym typeface="Nunito"/>
              </a:rPr>
              <a:t>Cloud Based Data Analytics </a:t>
            </a:r>
          </a:p>
        </p:txBody>
      </p:sp>
      <p:sp>
        <p:nvSpPr>
          <p:cNvPr id="9" name="TextBox 9"/>
          <p:cNvSpPr txBox="1"/>
          <p:nvPr/>
        </p:nvSpPr>
        <p:spPr>
          <a:xfrm>
            <a:off x="14288737" y="7492460"/>
            <a:ext cx="2506919" cy="714028"/>
          </a:xfrm>
          <a:prstGeom prst="rect">
            <a:avLst/>
          </a:prstGeom>
        </p:spPr>
        <p:txBody>
          <a:bodyPr lIns="0" tIns="0" rIns="0" bIns="0" rtlCol="0" anchor="t">
            <a:spAutoFit/>
          </a:bodyPr>
          <a:lstStyle/>
          <a:p>
            <a:pPr algn="ctr">
              <a:lnSpc>
                <a:spcPts val="5883"/>
              </a:lnSpc>
            </a:pPr>
            <a:r>
              <a:rPr lang="en-US" sz="4202">
                <a:solidFill>
                  <a:srgbClr val="337271"/>
                </a:solidFill>
                <a:latin typeface="Nunito"/>
                <a:ea typeface="Nunito"/>
                <a:cs typeface="Nunito"/>
                <a:sym typeface="Nunito"/>
              </a:rPr>
              <a:t>Team 9</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t="-83416" b="-83416"/>
            </a:stretch>
          </a:blipFill>
        </p:spPr>
      </p:sp>
      <p:grpSp>
        <p:nvGrpSpPr>
          <p:cNvPr id="3" name="Group 3"/>
          <p:cNvGrpSpPr/>
          <p:nvPr/>
        </p:nvGrpSpPr>
        <p:grpSpPr>
          <a:xfrm>
            <a:off x="1582456" y="5375268"/>
            <a:ext cx="4634336" cy="1193812"/>
            <a:chOff x="0" y="0"/>
            <a:chExt cx="1220566" cy="314420"/>
          </a:xfrm>
        </p:grpSpPr>
        <p:sp>
          <p:nvSpPr>
            <p:cNvPr id="4" name="Freeform 4"/>
            <p:cNvSpPr/>
            <p:nvPr/>
          </p:nvSpPr>
          <p:spPr>
            <a:xfrm>
              <a:off x="0" y="0"/>
              <a:ext cx="1220566" cy="314420"/>
            </a:xfrm>
            <a:custGeom>
              <a:avLst/>
              <a:gdLst/>
              <a:ahLst/>
              <a:cxnLst/>
              <a:rect l="l" t="t" r="r" b="b"/>
              <a:pathLst>
                <a:path w="1220566" h="314420">
                  <a:moveTo>
                    <a:pt x="0" y="0"/>
                  </a:moveTo>
                  <a:lnTo>
                    <a:pt x="1220566" y="0"/>
                  </a:lnTo>
                  <a:lnTo>
                    <a:pt x="1220566" y="314420"/>
                  </a:lnTo>
                  <a:lnTo>
                    <a:pt x="0" y="314420"/>
                  </a:lnTo>
                  <a:close/>
                </a:path>
              </a:pathLst>
            </a:custGeom>
            <a:solidFill>
              <a:srgbClr val="337271"/>
            </a:solidFill>
          </p:spPr>
        </p:sp>
        <p:sp>
          <p:nvSpPr>
            <p:cNvPr id="5" name="TextBox 5"/>
            <p:cNvSpPr txBox="1"/>
            <p:nvPr/>
          </p:nvSpPr>
          <p:spPr>
            <a:xfrm>
              <a:off x="0" y="-38100"/>
              <a:ext cx="1220566" cy="352520"/>
            </a:xfrm>
            <a:prstGeom prst="rect">
              <a:avLst/>
            </a:prstGeom>
          </p:spPr>
          <p:txBody>
            <a:bodyPr lIns="50800" tIns="50800" rIns="50800" bIns="50800" rtlCol="0" anchor="ctr"/>
            <a:lstStyle/>
            <a:p>
              <a:pPr algn="ctr">
                <a:lnSpc>
                  <a:spcPts val="2659"/>
                </a:lnSpc>
              </a:pPr>
              <a:endParaRPr/>
            </a:p>
          </p:txBody>
        </p:sp>
      </p:grpSp>
      <p:grpSp>
        <p:nvGrpSpPr>
          <p:cNvPr id="6" name="Group 6"/>
          <p:cNvGrpSpPr/>
          <p:nvPr/>
        </p:nvGrpSpPr>
        <p:grpSpPr>
          <a:xfrm>
            <a:off x="6826832" y="5375268"/>
            <a:ext cx="4634336" cy="1193812"/>
            <a:chOff x="0" y="0"/>
            <a:chExt cx="1220566" cy="314420"/>
          </a:xfrm>
        </p:grpSpPr>
        <p:sp>
          <p:nvSpPr>
            <p:cNvPr id="7" name="Freeform 7"/>
            <p:cNvSpPr/>
            <p:nvPr/>
          </p:nvSpPr>
          <p:spPr>
            <a:xfrm>
              <a:off x="0" y="0"/>
              <a:ext cx="1220566" cy="314420"/>
            </a:xfrm>
            <a:custGeom>
              <a:avLst/>
              <a:gdLst/>
              <a:ahLst/>
              <a:cxnLst/>
              <a:rect l="l" t="t" r="r" b="b"/>
              <a:pathLst>
                <a:path w="1220566" h="314420">
                  <a:moveTo>
                    <a:pt x="0" y="0"/>
                  </a:moveTo>
                  <a:lnTo>
                    <a:pt x="1220566" y="0"/>
                  </a:lnTo>
                  <a:lnTo>
                    <a:pt x="1220566" y="314420"/>
                  </a:lnTo>
                  <a:lnTo>
                    <a:pt x="0" y="314420"/>
                  </a:lnTo>
                  <a:close/>
                </a:path>
              </a:pathLst>
            </a:custGeom>
            <a:solidFill>
              <a:srgbClr val="337271"/>
            </a:solidFill>
          </p:spPr>
        </p:sp>
        <p:sp>
          <p:nvSpPr>
            <p:cNvPr id="8" name="TextBox 8"/>
            <p:cNvSpPr txBox="1"/>
            <p:nvPr/>
          </p:nvSpPr>
          <p:spPr>
            <a:xfrm>
              <a:off x="0" y="-38100"/>
              <a:ext cx="1220566" cy="352520"/>
            </a:xfrm>
            <a:prstGeom prst="rect">
              <a:avLst/>
            </a:prstGeom>
          </p:spPr>
          <p:txBody>
            <a:bodyPr lIns="50800" tIns="50800" rIns="50800" bIns="50800" rtlCol="0" anchor="ctr"/>
            <a:lstStyle/>
            <a:p>
              <a:pPr algn="ctr">
                <a:lnSpc>
                  <a:spcPts val="2659"/>
                </a:lnSpc>
              </a:pPr>
              <a:endParaRPr/>
            </a:p>
          </p:txBody>
        </p:sp>
      </p:grpSp>
      <p:grpSp>
        <p:nvGrpSpPr>
          <p:cNvPr id="9" name="Group 9"/>
          <p:cNvGrpSpPr/>
          <p:nvPr/>
        </p:nvGrpSpPr>
        <p:grpSpPr>
          <a:xfrm>
            <a:off x="12071208" y="5375268"/>
            <a:ext cx="4634336" cy="1193812"/>
            <a:chOff x="0" y="0"/>
            <a:chExt cx="1220566" cy="314420"/>
          </a:xfrm>
        </p:grpSpPr>
        <p:sp>
          <p:nvSpPr>
            <p:cNvPr id="10" name="Freeform 10"/>
            <p:cNvSpPr/>
            <p:nvPr/>
          </p:nvSpPr>
          <p:spPr>
            <a:xfrm>
              <a:off x="0" y="0"/>
              <a:ext cx="1220566" cy="314420"/>
            </a:xfrm>
            <a:custGeom>
              <a:avLst/>
              <a:gdLst/>
              <a:ahLst/>
              <a:cxnLst/>
              <a:rect l="l" t="t" r="r" b="b"/>
              <a:pathLst>
                <a:path w="1220566" h="314420">
                  <a:moveTo>
                    <a:pt x="0" y="0"/>
                  </a:moveTo>
                  <a:lnTo>
                    <a:pt x="1220566" y="0"/>
                  </a:lnTo>
                  <a:lnTo>
                    <a:pt x="1220566" y="314420"/>
                  </a:lnTo>
                  <a:lnTo>
                    <a:pt x="0" y="314420"/>
                  </a:lnTo>
                  <a:close/>
                </a:path>
              </a:pathLst>
            </a:custGeom>
            <a:solidFill>
              <a:srgbClr val="337271"/>
            </a:solidFill>
          </p:spPr>
        </p:sp>
        <p:sp>
          <p:nvSpPr>
            <p:cNvPr id="11" name="TextBox 11"/>
            <p:cNvSpPr txBox="1"/>
            <p:nvPr/>
          </p:nvSpPr>
          <p:spPr>
            <a:xfrm>
              <a:off x="0" y="-38100"/>
              <a:ext cx="1220566" cy="352520"/>
            </a:xfrm>
            <a:prstGeom prst="rect">
              <a:avLst/>
            </a:prstGeom>
          </p:spPr>
          <p:txBody>
            <a:bodyPr lIns="50800" tIns="50800" rIns="50800" bIns="50800" rtlCol="0" anchor="ctr"/>
            <a:lstStyle/>
            <a:p>
              <a:pPr algn="ctr">
                <a:lnSpc>
                  <a:spcPts val="2659"/>
                </a:lnSpc>
              </a:pPr>
              <a:endParaRPr/>
            </a:p>
          </p:txBody>
        </p:sp>
      </p:grpSp>
      <p:sp>
        <p:nvSpPr>
          <p:cNvPr id="12" name="Freeform 12"/>
          <p:cNvSpPr/>
          <p:nvPr/>
        </p:nvSpPr>
        <p:spPr>
          <a:xfrm flipH="1">
            <a:off x="15690050" y="7739359"/>
            <a:ext cx="3551363" cy="1646945"/>
          </a:xfrm>
          <a:custGeom>
            <a:avLst/>
            <a:gdLst/>
            <a:ahLst/>
            <a:cxnLst/>
            <a:rect l="l" t="t" r="r" b="b"/>
            <a:pathLst>
              <a:path w="3551363" h="1646945">
                <a:moveTo>
                  <a:pt x="3551363" y="0"/>
                </a:moveTo>
                <a:lnTo>
                  <a:pt x="0" y="0"/>
                </a:lnTo>
                <a:lnTo>
                  <a:pt x="0" y="1646944"/>
                </a:lnTo>
                <a:lnTo>
                  <a:pt x="3551363" y="1646944"/>
                </a:lnTo>
                <a:lnTo>
                  <a:pt x="3551363" y="0"/>
                </a:lnTo>
                <a:close/>
              </a:path>
            </a:pathLst>
          </a:custGeom>
          <a:blipFill>
            <a:blip>
              <a:extLst>
                <a:ext uri="{96DAC541-7B7A-43D3-8B79-37D633B846F1}">
                  <asvg:svgBlip xmlns:asvg="http://schemas.microsoft.com/office/drawing/2016/SVG/main" r:embed="rId3"/>
                </a:ext>
              </a:extLst>
            </a:blip>
            <a:stretch>
              <a:fillRect/>
            </a:stretch>
          </a:blipFill>
        </p:spPr>
      </p:sp>
      <p:sp>
        <p:nvSpPr>
          <p:cNvPr id="13" name="TextBox 13"/>
          <p:cNvSpPr txBox="1"/>
          <p:nvPr/>
        </p:nvSpPr>
        <p:spPr>
          <a:xfrm>
            <a:off x="4796206" y="2290466"/>
            <a:ext cx="8695587" cy="1628773"/>
          </a:xfrm>
          <a:prstGeom prst="rect">
            <a:avLst/>
          </a:prstGeom>
        </p:spPr>
        <p:txBody>
          <a:bodyPr lIns="0" tIns="0" rIns="0" bIns="0" rtlCol="0" anchor="t">
            <a:spAutoFit/>
          </a:bodyPr>
          <a:lstStyle/>
          <a:p>
            <a:pPr algn="ctr">
              <a:lnSpc>
                <a:spcPts val="12600"/>
              </a:lnSpc>
            </a:pPr>
            <a:r>
              <a:rPr lang="en-US" sz="9000">
                <a:solidFill>
                  <a:srgbClr val="337271"/>
                </a:solidFill>
                <a:latin typeface="AC Diary Girl"/>
                <a:ea typeface="AC Diary Girl"/>
                <a:cs typeface="AC Diary Girl"/>
                <a:sym typeface="AC Diary Girl"/>
              </a:rPr>
              <a:t>Our Team</a:t>
            </a:r>
          </a:p>
        </p:txBody>
      </p:sp>
      <p:sp>
        <p:nvSpPr>
          <p:cNvPr id="14" name="TextBox 14"/>
          <p:cNvSpPr txBox="1"/>
          <p:nvPr/>
        </p:nvSpPr>
        <p:spPr>
          <a:xfrm>
            <a:off x="1839779" y="5487987"/>
            <a:ext cx="4119690" cy="863600"/>
          </a:xfrm>
          <a:prstGeom prst="rect">
            <a:avLst/>
          </a:prstGeom>
        </p:spPr>
        <p:txBody>
          <a:bodyPr lIns="0" tIns="0" rIns="0" bIns="0" rtlCol="0" anchor="t">
            <a:spAutoFit/>
          </a:bodyPr>
          <a:lstStyle/>
          <a:p>
            <a:pPr algn="ctr">
              <a:lnSpc>
                <a:spcPts val="7000"/>
              </a:lnSpc>
            </a:pPr>
            <a:r>
              <a:rPr lang="en-US" sz="5000">
                <a:solidFill>
                  <a:srgbClr val="FFFFFF"/>
                </a:solidFill>
                <a:latin typeface="Nunito"/>
                <a:ea typeface="Nunito"/>
                <a:cs typeface="Nunito"/>
                <a:sym typeface="Nunito"/>
              </a:rPr>
              <a:t>Ashrith Rao</a:t>
            </a:r>
          </a:p>
        </p:txBody>
      </p:sp>
      <p:sp>
        <p:nvSpPr>
          <p:cNvPr id="15" name="TextBox 15"/>
          <p:cNvSpPr txBox="1"/>
          <p:nvPr/>
        </p:nvSpPr>
        <p:spPr>
          <a:xfrm>
            <a:off x="7084155" y="5487987"/>
            <a:ext cx="4119690" cy="863600"/>
          </a:xfrm>
          <a:prstGeom prst="rect">
            <a:avLst/>
          </a:prstGeom>
        </p:spPr>
        <p:txBody>
          <a:bodyPr lIns="0" tIns="0" rIns="0" bIns="0" rtlCol="0" anchor="t">
            <a:spAutoFit/>
          </a:bodyPr>
          <a:lstStyle/>
          <a:p>
            <a:pPr algn="ctr">
              <a:lnSpc>
                <a:spcPts val="7000"/>
              </a:lnSpc>
            </a:pPr>
            <a:r>
              <a:rPr lang="en-US" sz="5000" dirty="0">
                <a:solidFill>
                  <a:srgbClr val="FFFFFF"/>
                </a:solidFill>
                <a:latin typeface="Nunito"/>
                <a:ea typeface="Nunito"/>
                <a:cs typeface="Nunito"/>
                <a:sym typeface="Nunito"/>
              </a:rPr>
              <a:t>Shrot Pandey</a:t>
            </a:r>
          </a:p>
        </p:txBody>
      </p:sp>
      <p:sp>
        <p:nvSpPr>
          <p:cNvPr id="16" name="TextBox 16"/>
          <p:cNvSpPr txBox="1"/>
          <p:nvPr/>
        </p:nvSpPr>
        <p:spPr>
          <a:xfrm>
            <a:off x="12328531" y="5487987"/>
            <a:ext cx="4119690" cy="863600"/>
          </a:xfrm>
          <a:prstGeom prst="rect">
            <a:avLst/>
          </a:prstGeom>
        </p:spPr>
        <p:txBody>
          <a:bodyPr lIns="0" tIns="0" rIns="0" bIns="0" rtlCol="0" anchor="t">
            <a:spAutoFit/>
          </a:bodyPr>
          <a:lstStyle/>
          <a:p>
            <a:pPr algn="ctr">
              <a:lnSpc>
                <a:spcPts val="7000"/>
              </a:lnSpc>
            </a:pPr>
            <a:r>
              <a:rPr lang="en-US" sz="5000" dirty="0">
                <a:solidFill>
                  <a:srgbClr val="FFFFFF"/>
                </a:solidFill>
                <a:latin typeface="Nunito"/>
                <a:ea typeface="Nunito"/>
                <a:cs typeface="Nunito"/>
                <a:sym typeface="Nunito"/>
              </a:rPr>
              <a:t>Tejesh</a:t>
            </a:r>
          </a:p>
        </p:txBody>
      </p:sp>
      <p:sp>
        <p:nvSpPr>
          <p:cNvPr id="17" name="Freeform 17"/>
          <p:cNvSpPr/>
          <p:nvPr/>
        </p:nvSpPr>
        <p:spPr>
          <a:xfrm>
            <a:off x="-746982" y="1028700"/>
            <a:ext cx="3551363" cy="1646945"/>
          </a:xfrm>
          <a:custGeom>
            <a:avLst/>
            <a:gdLst/>
            <a:ahLst/>
            <a:cxnLst/>
            <a:rect l="l" t="t" r="r" b="b"/>
            <a:pathLst>
              <a:path w="3551363" h="1646945">
                <a:moveTo>
                  <a:pt x="0" y="0"/>
                </a:moveTo>
                <a:lnTo>
                  <a:pt x="3551364" y="0"/>
                </a:lnTo>
                <a:lnTo>
                  <a:pt x="3551364" y="1646945"/>
                </a:lnTo>
                <a:lnTo>
                  <a:pt x="0" y="1646945"/>
                </a:lnTo>
                <a:lnTo>
                  <a:pt x="0" y="0"/>
                </a:lnTo>
                <a:close/>
              </a:path>
            </a:pathLst>
          </a:custGeom>
          <a:blipFill>
            <a:blip>
              <a:extLst>
                <a:ext uri="{96DAC541-7B7A-43D3-8B79-37D633B846F1}">
                  <asvg:svgBlip xmlns:asvg="http://schemas.microsoft.com/office/drawing/2016/SVG/main" r:embed="rId3"/>
                </a:ext>
              </a:extLst>
            </a:blip>
            <a:stretch>
              <a:fillRect/>
            </a:stretch>
          </a:blipFill>
        </p:spPr>
      </p:sp>
      <p:grpSp>
        <p:nvGrpSpPr>
          <p:cNvPr id="18" name="Group 9">
            <a:extLst>
              <a:ext uri="{FF2B5EF4-FFF2-40B4-BE49-F238E27FC236}">
                <a16:creationId xmlns:a16="http://schemas.microsoft.com/office/drawing/2014/main" id="{32B607DF-9F99-9A68-0429-E4CD49E33CC9}"/>
              </a:ext>
            </a:extLst>
          </p:cNvPr>
          <p:cNvGrpSpPr/>
          <p:nvPr/>
        </p:nvGrpSpPr>
        <p:grpSpPr>
          <a:xfrm>
            <a:off x="6844165" y="7399628"/>
            <a:ext cx="4634336" cy="1193812"/>
            <a:chOff x="0" y="0"/>
            <a:chExt cx="1220566" cy="314420"/>
          </a:xfrm>
        </p:grpSpPr>
        <p:sp>
          <p:nvSpPr>
            <p:cNvPr id="19" name="Freeform 10">
              <a:extLst>
                <a:ext uri="{FF2B5EF4-FFF2-40B4-BE49-F238E27FC236}">
                  <a16:creationId xmlns:a16="http://schemas.microsoft.com/office/drawing/2014/main" id="{B37F6543-47EF-39A7-661A-BDDB1B5580EE}"/>
                </a:ext>
              </a:extLst>
            </p:cNvPr>
            <p:cNvSpPr/>
            <p:nvPr/>
          </p:nvSpPr>
          <p:spPr>
            <a:xfrm>
              <a:off x="0" y="0"/>
              <a:ext cx="1220566" cy="314420"/>
            </a:xfrm>
            <a:custGeom>
              <a:avLst/>
              <a:gdLst/>
              <a:ahLst/>
              <a:cxnLst/>
              <a:rect l="l" t="t" r="r" b="b"/>
              <a:pathLst>
                <a:path w="1220566" h="314420">
                  <a:moveTo>
                    <a:pt x="0" y="0"/>
                  </a:moveTo>
                  <a:lnTo>
                    <a:pt x="1220566" y="0"/>
                  </a:lnTo>
                  <a:lnTo>
                    <a:pt x="1220566" y="314420"/>
                  </a:lnTo>
                  <a:lnTo>
                    <a:pt x="0" y="314420"/>
                  </a:lnTo>
                  <a:close/>
                </a:path>
              </a:pathLst>
            </a:custGeom>
            <a:solidFill>
              <a:srgbClr val="337271"/>
            </a:solidFill>
          </p:spPr>
          <p:txBody>
            <a:bodyPr/>
            <a:lstStyle/>
            <a:p>
              <a:endParaRPr lang="en-IN" dirty="0"/>
            </a:p>
          </p:txBody>
        </p:sp>
        <p:sp>
          <p:nvSpPr>
            <p:cNvPr id="20" name="TextBox 11">
              <a:extLst>
                <a:ext uri="{FF2B5EF4-FFF2-40B4-BE49-F238E27FC236}">
                  <a16:creationId xmlns:a16="http://schemas.microsoft.com/office/drawing/2014/main" id="{1CB72186-0E4B-285C-0D9B-41937E7A8323}"/>
                </a:ext>
              </a:extLst>
            </p:cNvPr>
            <p:cNvSpPr txBox="1"/>
            <p:nvPr/>
          </p:nvSpPr>
          <p:spPr>
            <a:xfrm>
              <a:off x="0" y="-38100"/>
              <a:ext cx="1220566" cy="352520"/>
            </a:xfrm>
            <a:prstGeom prst="rect">
              <a:avLst/>
            </a:prstGeom>
          </p:spPr>
          <p:txBody>
            <a:bodyPr lIns="50800" tIns="50800" rIns="50800" bIns="50800" rtlCol="0" anchor="ctr"/>
            <a:lstStyle/>
            <a:p>
              <a:pPr algn="ctr">
                <a:lnSpc>
                  <a:spcPts val="2659"/>
                </a:lnSpc>
              </a:pPr>
              <a:endParaRPr/>
            </a:p>
          </p:txBody>
        </p:sp>
      </p:grpSp>
      <p:sp>
        <p:nvSpPr>
          <p:cNvPr id="22" name="TextBox 15">
            <a:extLst>
              <a:ext uri="{FF2B5EF4-FFF2-40B4-BE49-F238E27FC236}">
                <a16:creationId xmlns:a16="http://schemas.microsoft.com/office/drawing/2014/main" id="{D06367F0-7C37-114D-BC2E-09FE1925017B}"/>
              </a:ext>
            </a:extLst>
          </p:cNvPr>
          <p:cNvSpPr txBox="1"/>
          <p:nvPr/>
        </p:nvSpPr>
        <p:spPr>
          <a:xfrm>
            <a:off x="7084154" y="7564440"/>
            <a:ext cx="4119690" cy="863600"/>
          </a:xfrm>
          <a:prstGeom prst="rect">
            <a:avLst/>
          </a:prstGeom>
        </p:spPr>
        <p:txBody>
          <a:bodyPr lIns="0" tIns="0" rIns="0" bIns="0" rtlCol="0" anchor="t">
            <a:spAutoFit/>
          </a:bodyPr>
          <a:lstStyle/>
          <a:p>
            <a:pPr algn="ctr">
              <a:lnSpc>
                <a:spcPts val="7000"/>
              </a:lnSpc>
            </a:pPr>
            <a:r>
              <a:rPr lang="en-US" sz="5000" dirty="0">
                <a:solidFill>
                  <a:srgbClr val="FFFFFF"/>
                </a:solidFill>
                <a:latin typeface="Nunito"/>
                <a:ea typeface="Nunito"/>
                <a:cs typeface="Nunito"/>
                <a:sym typeface="Nunito"/>
              </a:rPr>
              <a:t>Adhitya</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t="-83416" b="-83416"/>
            </a:stretch>
          </a:blipFill>
        </p:spPr>
      </p:sp>
      <p:sp>
        <p:nvSpPr>
          <p:cNvPr id="3" name="Freeform 3"/>
          <p:cNvSpPr/>
          <p:nvPr/>
        </p:nvSpPr>
        <p:spPr>
          <a:xfrm>
            <a:off x="-2099932" y="-1172339"/>
            <a:ext cx="6257264" cy="3629213"/>
          </a:xfrm>
          <a:custGeom>
            <a:avLst/>
            <a:gdLst/>
            <a:ahLst/>
            <a:cxnLst/>
            <a:rect l="l" t="t" r="r" b="b"/>
            <a:pathLst>
              <a:path w="6257264" h="3629213">
                <a:moveTo>
                  <a:pt x="0" y="0"/>
                </a:moveTo>
                <a:lnTo>
                  <a:pt x="6257264" y="0"/>
                </a:lnTo>
                <a:lnTo>
                  <a:pt x="6257264" y="3629214"/>
                </a:lnTo>
                <a:lnTo>
                  <a:pt x="0" y="3629214"/>
                </a:lnTo>
                <a:lnTo>
                  <a:pt x="0" y="0"/>
                </a:lnTo>
                <a:close/>
              </a:path>
            </a:pathLst>
          </a:custGeom>
          <a:blipFill>
            <a:blip>
              <a:extLst>
                <a:ext uri="{96DAC541-7B7A-43D3-8B79-37D633B846F1}">
                  <asvg:svgBlip xmlns:asvg="http://schemas.microsoft.com/office/drawing/2016/SVG/main" r:embed="rId3"/>
                </a:ext>
              </a:extLst>
            </a:blip>
            <a:stretch>
              <a:fillRect/>
            </a:stretch>
          </a:blipFill>
        </p:spPr>
      </p:sp>
      <p:sp>
        <p:nvSpPr>
          <p:cNvPr id="4" name="Freeform 4"/>
          <p:cNvSpPr/>
          <p:nvPr/>
        </p:nvSpPr>
        <p:spPr>
          <a:xfrm>
            <a:off x="15533991" y="6870677"/>
            <a:ext cx="2977619" cy="4114800"/>
          </a:xfrm>
          <a:custGeom>
            <a:avLst/>
            <a:gdLst/>
            <a:ahLst/>
            <a:cxnLst/>
            <a:rect l="l" t="t" r="r" b="b"/>
            <a:pathLst>
              <a:path w="2977619" h="4114800">
                <a:moveTo>
                  <a:pt x="0" y="0"/>
                </a:moveTo>
                <a:lnTo>
                  <a:pt x="2977619" y="0"/>
                </a:lnTo>
                <a:lnTo>
                  <a:pt x="2977619" y="4114800"/>
                </a:lnTo>
                <a:lnTo>
                  <a:pt x="0" y="4114800"/>
                </a:lnTo>
                <a:lnTo>
                  <a:pt x="0" y="0"/>
                </a:lnTo>
                <a:close/>
              </a:path>
            </a:pathLst>
          </a:custGeom>
          <a:blipFill>
            <a:blip>
              <a:extLst>
                <a:ext uri="{96DAC541-7B7A-43D3-8B79-37D633B846F1}">
                  <asvg:svgBlip xmlns:asvg="http://schemas.microsoft.com/office/drawing/2016/SVG/main" r:embed="rId4"/>
                </a:ext>
              </a:extLst>
            </a:blip>
            <a:stretch>
              <a:fillRect/>
            </a:stretch>
          </a:blipFill>
        </p:spPr>
      </p:sp>
      <p:sp>
        <p:nvSpPr>
          <p:cNvPr id="5" name="TextBox 5"/>
          <p:cNvSpPr txBox="1"/>
          <p:nvPr/>
        </p:nvSpPr>
        <p:spPr>
          <a:xfrm>
            <a:off x="4796206" y="2199700"/>
            <a:ext cx="8695587" cy="1628773"/>
          </a:xfrm>
          <a:prstGeom prst="rect">
            <a:avLst/>
          </a:prstGeom>
        </p:spPr>
        <p:txBody>
          <a:bodyPr lIns="0" tIns="0" rIns="0" bIns="0" rtlCol="0" anchor="t">
            <a:spAutoFit/>
          </a:bodyPr>
          <a:lstStyle/>
          <a:p>
            <a:pPr algn="ctr">
              <a:lnSpc>
                <a:spcPts val="12600"/>
              </a:lnSpc>
            </a:pPr>
            <a:r>
              <a:rPr lang="en-US" sz="9000">
                <a:solidFill>
                  <a:srgbClr val="337271"/>
                </a:solidFill>
                <a:latin typeface="AC Diary Girl"/>
                <a:ea typeface="AC Diary Girl"/>
                <a:cs typeface="AC Diary Girl"/>
                <a:sym typeface="AC Diary Girl"/>
              </a:rPr>
              <a:t>Introduction</a:t>
            </a:r>
          </a:p>
        </p:txBody>
      </p:sp>
      <p:sp>
        <p:nvSpPr>
          <p:cNvPr id="6" name="TextBox 6"/>
          <p:cNvSpPr txBox="1"/>
          <p:nvPr/>
        </p:nvSpPr>
        <p:spPr>
          <a:xfrm>
            <a:off x="1974976" y="4115375"/>
            <a:ext cx="14338047" cy="3181350"/>
          </a:xfrm>
          <a:prstGeom prst="rect">
            <a:avLst/>
          </a:prstGeom>
        </p:spPr>
        <p:txBody>
          <a:bodyPr lIns="0" tIns="0" rIns="0" bIns="0" rtlCol="0" anchor="t">
            <a:spAutoFit/>
          </a:bodyPr>
          <a:lstStyle/>
          <a:p>
            <a:pPr algn="ctr">
              <a:lnSpc>
                <a:spcPts val="4200"/>
              </a:lnSpc>
            </a:pPr>
            <a:r>
              <a:rPr lang="en-US" sz="3000">
                <a:solidFill>
                  <a:srgbClr val="337271"/>
                </a:solidFill>
                <a:latin typeface="Nunito"/>
                <a:ea typeface="Nunito"/>
                <a:cs typeface="Nunito"/>
                <a:sym typeface="Nunito"/>
              </a:rPr>
              <a:t>This project builds a complete Azure-based data engineering pipeline that ingests raw data using Azure Data Factory, stores it in Azure Data Lake, transforms it using Databricks and PySpark, and loads analytics-ready data into Azure Synapse Analytics for SQL querying and Power BI reporting. It follows the Medallion Architecture (Bronze, Silver, Gold) to ensure scalable, automated, and high-performance data processing.</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t="-83416" b="-83416"/>
            </a:stretch>
          </a:blipFill>
        </p:spPr>
      </p:sp>
      <p:grpSp>
        <p:nvGrpSpPr>
          <p:cNvPr id="3" name="Group 3"/>
          <p:cNvGrpSpPr/>
          <p:nvPr/>
        </p:nvGrpSpPr>
        <p:grpSpPr>
          <a:xfrm>
            <a:off x="2697845" y="2812559"/>
            <a:ext cx="12892311" cy="1365838"/>
            <a:chOff x="0" y="0"/>
            <a:chExt cx="3395506" cy="359727"/>
          </a:xfrm>
        </p:grpSpPr>
        <p:sp>
          <p:nvSpPr>
            <p:cNvPr id="4" name="Freeform 4"/>
            <p:cNvSpPr/>
            <p:nvPr/>
          </p:nvSpPr>
          <p:spPr>
            <a:xfrm>
              <a:off x="0" y="0"/>
              <a:ext cx="3395506" cy="359727"/>
            </a:xfrm>
            <a:custGeom>
              <a:avLst/>
              <a:gdLst/>
              <a:ahLst/>
              <a:cxnLst/>
              <a:rect l="l" t="t" r="r" b="b"/>
              <a:pathLst>
                <a:path w="3395506" h="359727">
                  <a:moveTo>
                    <a:pt x="0" y="0"/>
                  </a:moveTo>
                  <a:lnTo>
                    <a:pt x="3395506" y="0"/>
                  </a:lnTo>
                  <a:lnTo>
                    <a:pt x="3395506" y="359727"/>
                  </a:lnTo>
                  <a:lnTo>
                    <a:pt x="0" y="359727"/>
                  </a:lnTo>
                  <a:close/>
                </a:path>
              </a:pathLst>
            </a:custGeom>
            <a:ln w="38100" cap="sq">
              <a:solidFill>
                <a:srgbClr val="337271"/>
              </a:solidFill>
              <a:prstDash val="solid"/>
              <a:miter/>
            </a:ln>
          </p:spPr>
        </p:sp>
        <p:sp>
          <p:nvSpPr>
            <p:cNvPr id="5" name="TextBox 5"/>
            <p:cNvSpPr txBox="1"/>
            <p:nvPr/>
          </p:nvSpPr>
          <p:spPr>
            <a:xfrm>
              <a:off x="0" y="-38100"/>
              <a:ext cx="3395506" cy="397827"/>
            </a:xfrm>
            <a:prstGeom prst="rect">
              <a:avLst/>
            </a:prstGeom>
          </p:spPr>
          <p:txBody>
            <a:bodyPr lIns="50800" tIns="50800" rIns="50800" bIns="50800" rtlCol="0" anchor="ctr"/>
            <a:lstStyle/>
            <a:p>
              <a:pPr algn="ctr">
                <a:lnSpc>
                  <a:spcPts val="2659"/>
                </a:lnSpc>
                <a:spcBef>
                  <a:spcPct val="0"/>
                </a:spcBef>
              </a:pPr>
              <a:endParaRPr/>
            </a:p>
          </p:txBody>
        </p:sp>
      </p:grpSp>
      <p:grpSp>
        <p:nvGrpSpPr>
          <p:cNvPr id="6" name="Group 6"/>
          <p:cNvGrpSpPr/>
          <p:nvPr/>
        </p:nvGrpSpPr>
        <p:grpSpPr>
          <a:xfrm>
            <a:off x="2697845" y="4578447"/>
            <a:ext cx="12892311" cy="1365838"/>
            <a:chOff x="0" y="0"/>
            <a:chExt cx="3395506" cy="359727"/>
          </a:xfrm>
        </p:grpSpPr>
        <p:sp>
          <p:nvSpPr>
            <p:cNvPr id="7" name="Freeform 7"/>
            <p:cNvSpPr/>
            <p:nvPr/>
          </p:nvSpPr>
          <p:spPr>
            <a:xfrm>
              <a:off x="0" y="0"/>
              <a:ext cx="3395506" cy="359727"/>
            </a:xfrm>
            <a:custGeom>
              <a:avLst/>
              <a:gdLst/>
              <a:ahLst/>
              <a:cxnLst/>
              <a:rect l="l" t="t" r="r" b="b"/>
              <a:pathLst>
                <a:path w="3395506" h="359727">
                  <a:moveTo>
                    <a:pt x="0" y="0"/>
                  </a:moveTo>
                  <a:lnTo>
                    <a:pt x="3395506" y="0"/>
                  </a:lnTo>
                  <a:lnTo>
                    <a:pt x="3395506" y="359727"/>
                  </a:lnTo>
                  <a:lnTo>
                    <a:pt x="0" y="359727"/>
                  </a:lnTo>
                  <a:close/>
                </a:path>
              </a:pathLst>
            </a:custGeom>
            <a:ln w="38100" cap="sq">
              <a:solidFill>
                <a:srgbClr val="337271"/>
              </a:solidFill>
              <a:prstDash val="solid"/>
              <a:miter/>
            </a:ln>
          </p:spPr>
        </p:sp>
        <p:sp>
          <p:nvSpPr>
            <p:cNvPr id="8" name="TextBox 8"/>
            <p:cNvSpPr txBox="1"/>
            <p:nvPr/>
          </p:nvSpPr>
          <p:spPr>
            <a:xfrm>
              <a:off x="0" y="-38100"/>
              <a:ext cx="3395506" cy="397827"/>
            </a:xfrm>
            <a:prstGeom prst="rect">
              <a:avLst/>
            </a:prstGeom>
          </p:spPr>
          <p:txBody>
            <a:bodyPr lIns="50800" tIns="50800" rIns="50800" bIns="50800" rtlCol="0" anchor="ctr"/>
            <a:lstStyle/>
            <a:p>
              <a:pPr algn="ctr">
                <a:lnSpc>
                  <a:spcPts val="2659"/>
                </a:lnSpc>
                <a:spcBef>
                  <a:spcPct val="0"/>
                </a:spcBef>
              </a:pPr>
              <a:endParaRPr/>
            </a:p>
          </p:txBody>
        </p:sp>
      </p:grpSp>
      <p:grpSp>
        <p:nvGrpSpPr>
          <p:cNvPr id="9" name="Group 9"/>
          <p:cNvGrpSpPr/>
          <p:nvPr/>
        </p:nvGrpSpPr>
        <p:grpSpPr>
          <a:xfrm>
            <a:off x="2697845" y="6344335"/>
            <a:ext cx="12892311" cy="1365838"/>
            <a:chOff x="0" y="0"/>
            <a:chExt cx="3395506" cy="359727"/>
          </a:xfrm>
        </p:grpSpPr>
        <p:sp>
          <p:nvSpPr>
            <p:cNvPr id="10" name="Freeform 10"/>
            <p:cNvSpPr/>
            <p:nvPr/>
          </p:nvSpPr>
          <p:spPr>
            <a:xfrm>
              <a:off x="0" y="0"/>
              <a:ext cx="3395506" cy="359727"/>
            </a:xfrm>
            <a:custGeom>
              <a:avLst/>
              <a:gdLst/>
              <a:ahLst/>
              <a:cxnLst/>
              <a:rect l="l" t="t" r="r" b="b"/>
              <a:pathLst>
                <a:path w="3395506" h="359727">
                  <a:moveTo>
                    <a:pt x="0" y="0"/>
                  </a:moveTo>
                  <a:lnTo>
                    <a:pt x="3395506" y="0"/>
                  </a:lnTo>
                  <a:lnTo>
                    <a:pt x="3395506" y="359727"/>
                  </a:lnTo>
                  <a:lnTo>
                    <a:pt x="0" y="359727"/>
                  </a:lnTo>
                  <a:close/>
                </a:path>
              </a:pathLst>
            </a:custGeom>
            <a:ln w="38100" cap="sq">
              <a:solidFill>
                <a:srgbClr val="337271"/>
              </a:solidFill>
              <a:prstDash val="solid"/>
              <a:miter/>
            </a:ln>
          </p:spPr>
        </p:sp>
        <p:sp>
          <p:nvSpPr>
            <p:cNvPr id="11" name="TextBox 11"/>
            <p:cNvSpPr txBox="1"/>
            <p:nvPr/>
          </p:nvSpPr>
          <p:spPr>
            <a:xfrm>
              <a:off x="0" y="-38100"/>
              <a:ext cx="3395506" cy="397827"/>
            </a:xfrm>
            <a:prstGeom prst="rect">
              <a:avLst/>
            </a:prstGeom>
          </p:spPr>
          <p:txBody>
            <a:bodyPr lIns="50800" tIns="50800" rIns="50800" bIns="50800" rtlCol="0" anchor="ctr"/>
            <a:lstStyle/>
            <a:p>
              <a:pPr algn="ctr">
                <a:lnSpc>
                  <a:spcPts val="2659"/>
                </a:lnSpc>
                <a:spcBef>
                  <a:spcPct val="0"/>
                </a:spcBef>
              </a:pPr>
              <a:endParaRPr/>
            </a:p>
          </p:txBody>
        </p:sp>
      </p:grpSp>
      <p:sp>
        <p:nvSpPr>
          <p:cNvPr id="12" name="TextBox 12"/>
          <p:cNvSpPr txBox="1"/>
          <p:nvPr/>
        </p:nvSpPr>
        <p:spPr>
          <a:xfrm>
            <a:off x="4796206" y="514350"/>
            <a:ext cx="8695587" cy="1628773"/>
          </a:xfrm>
          <a:prstGeom prst="rect">
            <a:avLst/>
          </a:prstGeom>
        </p:spPr>
        <p:txBody>
          <a:bodyPr lIns="0" tIns="0" rIns="0" bIns="0" rtlCol="0" anchor="t">
            <a:spAutoFit/>
          </a:bodyPr>
          <a:lstStyle/>
          <a:p>
            <a:pPr algn="ctr">
              <a:lnSpc>
                <a:spcPts val="12600"/>
              </a:lnSpc>
            </a:pPr>
            <a:r>
              <a:rPr lang="en-US" sz="9000">
                <a:solidFill>
                  <a:srgbClr val="337271"/>
                </a:solidFill>
                <a:latin typeface="AC Diary Girl"/>
                <a:ea typeface="AC Diary Girl"/>
                <a:cs typeface="AC Diary Girl"/>
                <a:sym typeface="AC Diary Girl"/>
              </a:rPr>
              <a:t>Project Goals</a:t>
            </a:r>
          </a:p>
        </p:txBody>
      </p:sp>
      <p:sp>
        <p:nvSpPr>
          <p:cNvPr id="13" name="TextBox 13"/>
          <p:cNvSpPr txBox="1"/>
          <p:nvPr/>
        </p:nvSpPr>
        <p:spPr>
          <a:xfrm>
            <a:off x="2783500" y="2943028"/>
            <a:ext cx="12721001" cy="1047750"/>
          </a:xfrm>
          <a:prstGeom prst="rect">
            <a:avLst/>
          </a:prstGeom>
        </p:spPr>
        <p:txBody>
          <a:bodyPr lIns="0" tIns="0" rIns="0" bIns="0" rtlCol="0" anchor="t">
            <a:spAutoFit/>
          </a:bodyPr>
          <a:lstStyle/>
          <a:p>
            <a:pPr algn="ctr">
              <a:lnSpc>
                <a:spcPts val="4200"/>
              </a:lnSpc>
            </a:pPr>
            <a:r>
              <a:rPr lang="en-US" sz="3000">
                <a:solidFill>
                  <a:srgbClr val="337271"/>
                </a:solidFill>
                <a:latin typeface="Nunito"/>
                <a:ea typeface="Nunito"/>
                <a:cs typeface="Nunito"/>
                <a:sym typeface="Nunito"/>
              </a:rPr>
              <a:t>Build a Scalable Cloud Data Pipeline: Design and implement an end-to-end data engineering workflow using Azure services.</a:t>
            </a:r>
          </a:p>
        </p:txBody>
      </p:sp>
      <p:sp>
        <p:nvSpPr>
          <p:cNvPr id="14" name="TextBox 14"/>
          <p:cNvSpPr txBox="1"/>
          <p:nvPr/>
        </p:nvSpPr>
        <p:spPr>
          <a:xfrm>
            <a:off x="2783500" y="4708916"/>
            <a:ext cx="12721001" cy="1047750"/>
          </a:xfrm>
          <a:prstGeom prst="rect">
            <a:avLst/>
          </a:prstGeom>
        </p:spPr>
        <p:txBody>
          <a:bodyPr lIns="0" tIns="0" rIns="0" bIns="0" rtlCol="0" anchor="t">
            <a:spAutoFit/>
          </a:bodyPr>
          <a:lstStyle/>
          <a:p>
            <a:pPr algn="ctr">
              <a:lnSpc>
                <a:spcPts val="4200"/>
              </a:lnSpc>
            </a:pPr>
            <a:r>
              <a:rPr lang="en-US" sz="3000">
                <a:solidFill>
                  <a:srgbClr val="337271"/>
                </a:solidFill>
                <a:latin typeface="Nunito"/>
                <a:ea typeface="Nunito"/>
                <a:cs typeface="Nunito"/>
                <a:sym typeface="Nunito"/>
              </a:rPr>
              <a:t>Implement Medallion Architecture: Structure data into Bronze (raw), Silver (processed), and Gold (analytics-ready) layers.</a:t>
            </a:r>
          </a:p>
        </p:txBody>
      </p:sp>
      <p:sp>
        <p:nvSpPr>
          <p:cNvPr id="15" name="TextBox 15"/>
          <p:cNvSpPr txBox="1"/>
          <p:nvPr/>
        </p:nvSpPr>
        <p:spPr>
          <a:xfrm>
            <a:off x="2783500" y="6474804"/>
            <a:ext cx="12721001" cy="1047750"/>
          </a:xfrm>
          <a:prstGeom prst="rect">
            <a:avLst/>
          </a:prstGeom>
        </p:spPr>
        <p:txBody>
          <a:bodyPr lIns="0" tIns="0" rIns="0" bIns="0" rtlCol="0" anchor="t">
            <a:spAutoFit/>
          </a:bodyPr>
          <a:lstStyle/>
          <a:p>
            <a:pPr algn="ctr">
              <a:lnSpc>
                <a:spcPts val="4200"/>
              </a:lnSpc>
            </a:pPr>
            <a:r>
              <a:rPr lang="en-US" sz="3000">
                <a:solidFill>
                  <a:srgbClr val="337271"/>
                </a:solidFill>
                <a:latin typeface="Nunito"/>
                <a:ea typeface="Nunito"/>
                <a:cs typeface="Nunito"/>
                <a:sym typeface="Nunito"/>
              </a:rPr>
              <a:t>Enable Big Data Processing: Use distributed computing with PySpark in Databricks for efficient transformation.</a:t>
            </a:r>
          </a:p>
        </p:txBody>
      </p:sp>
      <p:sp>
        <p:nvSpPr>
          <p:cNvPr id="16" name="Freeform 16"/>
          <p:cNvSpPr/>
          <p:nvPr/>
        </p:nvSpPr>
        <p:spPr>
          <a:xfrm>
            <a:off x="-334072" y="-1475968"/>
            <a:ext cx="3808435" cy="4114800"/>
          </a:xfrm>
          <a:custGeom>
            <a:avLst/>
            <a:gdLst/>
            <a:ahLst/>
            <a:cxnLst/>
            <a:rect l="l" t="t" r="r" b="b"/>
            <a:pathLst>
              <a:path w="3808435" h="4114800">
                <a:moveTo>
                  <a:pt x="0" y="0"/>
                </a:moveTo>
                <a:lnTo>
                  <a:pt x="3808435" y="0"/>
                </a:lnTo>
                <a:lnTo>
                  <a:pt x="3808435" y="4114800"/>
                </a:lnTo>
                <a:lnTo>
                  <a:pt x="0" y="4114800"/>
                </a:lnTo>
                <a:lnTo>
                  <a:pt x="0" y="0"/>
                </a:lnTo>
                <a:close/>
              </a:path>
            </a:pathLst>
          </a:custGeom>
          <a:blipFill>
            <a:blip>
              <a:extLst>
                <a:ext uri="{96DAC541-7B7A-43D3-8B79-37D633B846F1}">
                  <asvg:svgBlip xmlns:asvg="http://schemas.microsoft.com/office/drawing/2016/SVG/main" r:embed="rId3"/>
                </a:ext>
              </a:extLst>
            </a:blip>
            <a:stretch>
              <a:fillRect/>
            </a:stretch>
          </a:blipFill>
        </p:spPr>
      </p:sp>
      <p:sp>
        <p:nvSpPr>
          <p:cNvPr id="17" name="Freeform 17"/>
          <p:cNvSpPr/>
          <p:nvPr/>
        </p:nvSpPr>
        <p:spPr>
          <a:xfrm>
            <a:off x="13406006" y="9057766"/>
            <a:ext cx="4196989" cy="770720"/>
          </a:xfrm>
          <a:custGeom>
            <a:avLst/>
            <a:gdLst/>
            <a:ahLst/>
            <a:cxnLst/>
            <a:rect l="l" t="t" r="r" b="b"/>
            <a:pathLst>
              <a:path w="4196989" h="770720">
                <a:moveTo>
                  <a:pt x="0" y="0"/>
                </a:moveTo>
                <a:lnTo>
                  <a:pt x="4196989" y="0"/>
                </a:lnTo>
                <a:lnTo>
                  <a:pt x="4196989" y="770720"/>
                </a:lnTo>
                <a:lnTo>
                  <a:pt x="0" y="770720"/>
                </a:lnTo>
                <a:lnTo>
                  <a:pt x="0" y="0"/>
                </a:lnTo>
                <a:close/>
              </a:path>
            </a:pathLst>
          </a:custGeom>
          <a:blipFill>
            <a:blip>
              <a:extLst>
                <a:ext uri="{96DAC541-7B7A-43D3-8B79-37D633B846F1}">
                  <asvg:svgBlip xmlns:asvg="http://schemas.microsoft.com/office/drawing/2016/SVG/main" r:embed="rId4"/>
                </a:ext>
              </a:extLst>
            </a:blip>
            <a:stretch>
              <a:fillRect/>
            </a:stretch>
          </a:blipFill>
        </p:spPr>
      </p:sp>
      <p:grpSp>
        <p:nvGrpSpPr>
          <p:cNvPr id="18" name="Group 18"/>
          <p:cNvGrpSpPr/>
          <p:nvPr/>
        </p:nvGrpSpPr>
        <p:grpSpPr>
          <a:xfrm>
            <a:off x="2783500" y="8110223"/>
            <a:ext cx="12892311" cy="1365838"/>
            <a:chOff x="0" y="0"/>
            <a:chExt cx="3395506" cy="359727"/>
          </a:xfrm>
        </p:grpSpPr>
        <p:sp>
          <p:nvSpPr>
            <p:cNvPr id="19" name="Freeform 19"/>
            <p:cNvSpPr/>
            <p:nvPr/>
          </p:nvSpPr>
          <p:spPr>
            <a:xfrm>
              <a:off x="0" y="0"/>
              <a:ext cx="3395506" cy="359727"/>
            </a:xfrm>
            <a:custGeom>
              <a:avLst/>
              <a:gdLst/>
              <a:ahLst/>
              <a:cxnLst/>
              <a:rect l="l" t="t" r="r" b="b"/>
              <a:pathLst>
                <a:path w="3395506" h="359727">
                  <a:moveTo>
                    <a:pt x="0" y="0"/>
                  </a:moveTo>
                  <a:lnTo>
                    <a:pt x="3395506" y="0"/>
                  </a:lnTo>
                  <a:lnTo>
                    <a:pt x="3395506" y="359727"/>
                  </a:lnTo>
                  <a:lnTo>
                    <a:pt x="0" y="359727"/>
                  </a:lnTo>
                  <a:close/>
                </a:path>
              </a:pathLst>
            </a:custGeom>
            <a:ln w="38100" cap="sq">
              <a:solidFill>
                <a:srgbClr val="337271"/>
              </a:solidFill>
              <a:prstDash val="solid"/>
              <a:miter/>
            </a:ln>
          </p:spPr>
        </p:sp>
        <p:sp>
          <p:nvSpPr>
            <p:cNvPr id="20" name="TextBox 20"/>
            <p:cNvSpPr txBox="1"/>
            <p:nvPr/>
          </p:nvSpPr>
          <p:spPr>
            <a:xfrm>
              <a:off x="0" y="-38100"/>
              <a:ext cx="3395506" cy="397827"/>
            </a:xfrm>
            <a:prstGeom prst="rect">
              <a:avLst/>
            </a:prstGeom>
          </p:spPr>
          <p:txBody>
            <a:bodyPr lIns="50800" tIns="50800" rIns="50800" bIns="50800" rtlCol="0" anchor="ctr"/>
            <a:lstStyle/>
            <a:p>
              <a:pPr algn="ctr">
                <a:lnSpc>
                  <a:spcPts val="2659"/>
                </a:lnSpc>
                <a:spcBef>
                  <a:spcPct val="0"/>
                </a:spcBef>
              </a:pPr>
              <a:endParaRPr/>
            </a:p>
          </p:txBody>
        </p:sp>
      </p:grpSp>
      <p:sp>
        <p:nvSpPr>
          <p:cNvPr id="21" name="TextBox 21"/>
          <p:cNvSpPr txBox="1"/>
          <p:nvPr/>
        </p:nvSpPr>
        <p:spPr>
          <a:xfrm>
            <a:off x="2869155" y="8240692"/>
            <a:ext cx="12721001" cy="1047750"/>
          </a:xfrm>
          <a:prstGeom prst="rect">
            <a:avLst/>
          </a:prstGeom>
        </p:spPr>
        <p:txBody>
          <a:bodyPr lIns="0" tIns="0" rIns="0" bIns="0" rtlCol="0" anchor="t">
            <a:spAutoFit/>
          </a:bodyPr>
          <a:lstStyle/>
          <a:p>
            <a:pPr algn="ctr">
              <a:lnSpc>
                <a:spcPts val="4200"/>
              </a:lnSpc>
            </a:pPr>
            <a:r>
              <a:rPr lang="en-US" sz="3000">
                <a:solidFill>
                  <a:srgbClr val="337271"/>
                </a:solidFill>
                <a:latin typeface="Nunito"/>
                <a:ea typeface="Nunito"/>
                <a:cs typeface="Nunito"/>
                <a:sym typeface="Nunito"/>
              </a:rPr>
              <a:t>Deliver Business-Ready Analytics: Load curated data into Synapse for SQL querying and Power BI reporting.</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t="-83416" b="-83416"/>
            </a:stretch>
          </a:blipFill>
        </p:spPr>
      </p:sp>
      <p:grpSp>
        <p:nvGrpSpPr>
          <p:cNvPr id="3" name="Group 3"/>
          <p:cNvGrpSpPr/>
          <p:nvPr/>
        </p:nvGrpSpPr>
        <p:grpSpPr>
          <a:xfrm>
            <a:off x="2157532" y="2929632"/>
            <a:ext cx="6698651" cy="3145707"/>
            <a:chOff x="0" y="0"/>
            <a:chExt cx="1764254" cy="828499"/>
          </a:xfrm>
        </p:grpSpPr>
        <p:sp>
          <p:nvSpPr>
            <p:cNvPr id="4" name="Freeform 4"/>
            <p:cNvSpPr/>
            <p:nvPr/>
          </p:nvSpPr>
          <p:spPr>
            <a:xfrm>
              <a:off x="0" y="0"/>
              <a:ext cx="1764254" cy="828499"/>
            </a:xfrm>
            <a:custGeom>
              <a:avLst/>
              <a:gdLst/>
              <a:ahLst/>
              <a:cxnLst/>
              <a:rect l="l" t="t" r="r" b="b"/>
              <a:pathLst>
                <a:path w="1764254" h="828499">
                  <a:moveTo>
                    <a:pt x="0" y="0"/>
                  </a:moveTo>
                  <a:lnTo>
                    <a:pt x="1764254" y="0"/>
                  </a:lnTo>
                  <a:lnTo>
                    <a:pt x="1764254" y="828499"/>
                  </a:lnTo>
                  <a:lnTo>
                    <a:pt x="0" y="828499"/>
                  </a:lnTo>
                  <a:close/>
                </a:path>
              </a:pathLst>
            </a:custGeom>
            <a:solidFill>
              <a:srgbClr val="337271"/>
            </a:solidFill>
          </p:spPr>
        </p:sp>
        <p:sp>
          <p:nvSpPr>
            <p:cNvPr id="5" name="TextBox 5"/>
            <p:cNvSpPr txBox="1"/>
            <p:nvPr/>
          </p:nvSpPr>
          <p:spPr>
            <a:xfrm>
              <a:off x="0" y="-38100"/>
              <a:ext cx="1764254" cy="866599"/>
            </a:xfrm>
            <a:prstGeom prst="rect">
              <a:avLst/>
            </a:prstGeom>
          </p:spPr>
          <p:txBody>
            <a:bodyPr lIns="50800" tIns="50800" rIns="50800" bIns="50800" rtlCol="0" anchor="ctr"/>
            <a:lstStyle/>
            <a:p>
              <a:pPr algn="ctr">
                <a:lnSpc>
                  <a:spcPts val="2659"/>
                </a:lnSpc>
              </a:pPr>
              <a:endParaRPr/>
            </a:p>
          </p:txBody>
        </p:sp>
      </p:grpSp>
      <p:sp>
        <p:nvSpPr>
          <p:cNvPr id="6" name="TextBox 6"/>
          <p:cNvSpPr txBox="1"/>
          <p:nvPr/>
        </p:nvSpPr>
        <p:spPr>
          <a:xfrm>
            <a:off x="4796206" y="648395"/>
            <a:ext cx="8695587" cy="1628773"/>
          </a:xfrm>
          <a:prstGeom prst="rect">
            <a:avLst/>
          </a:prstGeom>
        </p:spPr>
        <p:txBody>
          <a:bodyPr lIns="0" tIns="0" rIns="0" bIns="0" rtlCol="0" anchor="t">
            <a:spAutoFit/>
          </a:bodyPr>
          <a:lstStyle/>
          <a:p>
            <a:pPr algn="ctr">
              <a:lnSpc>
                <a:spcPts val="12600"/>
              </a:lnSpc>
            </a:pPr>
            <a:r>
              <a:rPr lang="en-US" sz="9000">
                <a:solidFill>
                  <a:srgbClr val="337271"/>
                </a:solidFill>
                <a:latin typeface="AC Diary Girl"/>
                <a:ea typeface="AC Diary Girl"/>
                <a:cs typeface="AC Diary Girl"/>
                <a:sym typeface="AC Diary Girl"/>
              </a:rPr>
              <a:t>Problems</a:t>
            </a:r>
          </a:p>
        </p:txBody>
      </p:sp>
      <p:sp>
        <p:nvSpPr>
          <p:cNvPr id="7" name="TextBox 7"/>
          <p:cNvSpPr txBox="1"/>
          <p:nvPr/>
        </p:nvSpPr>
        <p:spPr>
          <a:xfrm>
            <a:off x="2552476" y="3821694"/>
            <a:ext cx="5908762" cy="2114550"/>
          </a:xfrm>
          <a:prstGeom prst="rect">
            <a:avLst/>
          </a:prstGeom>
        </p:spPr>
        <p:txBody>
          <a:bodyPr lIns="0" tIns="0" rIns="0" bIns="0" rtlCol="0" anchor="t">
            <a:spAutoFit/>
          </a:bodyPr>
          <a:lstStyle/>
          <a:p>
            <a:pPr algn="ctr">
              <a:lnSpc>
                <a:spcPts val="4200"/>
              </a:lnSpc>
            </a:pPr>
            <a:r>
              <a:rPr lang="en-US" sz="3000" b="1">
                <a:solidFill>
                  <a:srgbClr val="FFFFFF"/>
                </a:solidFill>
                <a:latin typeface="Nunito Bold"/>
                <a:ea typeface="Nunito Bold"/>
                <a:cs typeface="Nunito Bold"/>
                <a:sym typeface="Nunito Bold"/>
              </a:rPr>
              <a:t>Raw Data is Unstructured &amp; Messy</a:t>
            </a:r>
          </a:p>
          <a:p>
            <a:pPr algn="ctr">
              <a:lnSpc>
                <a:spcPts val="4200"/>
              </a:lnSpc>
            </a:pPr>
            <a:r>
              <a:rPr lang="en-US" sz="3000">
                <a:solidFill>
                  <a:srgbClr val="FFFFFF"/>
                </a:solidFill>
                <a:latin typeface="Nunito"/>
                <a:ea typeface="Nunito"/>
                <a:cs typeface="Nunito"/>
                <a:sym typeface="Nunito"/>
              </a:rPr>
              <a:t> APIs and datasets contain nulls, inconsistent schema, duplicates.</a:t>
            </a:r>
          </a:p>
        </p:txBody>
      </p:sp>
      <p:sp>
        <p:nvSpPr>
          <p:cNvPr id="8" name="TextBox 8"/>
          <p:cNvSpPr txBox="1"/>
          <p:nvPr/>
        </p:nvSpPr>
        <p:spPr>
          <a:xfrm>
            <a:off x="4324346" y="2939044"/>
            <a:ext cx="2365022" cy="901700"/>
          </a:xfrm>
          <a:prstGeom prst="rect">
            <a:avLst/>
          </a:prstGeom>
        </p:spPr>
        <p:txBody>
          <a:bodyPr lIns="0" tIns="0" rIns="0" bIns="0" rtlCol="0" anchor="t">
            <a:spAutoFit/>
          </a:bodyPr>
          <a:lstStyle/>
          <a:p>
            <a:pPr algn="ctr">
              <a:lnSpc>
                <a:spcPts val="7000"/>
              </a:lnSpc>
            </a:pPr>
            <a:r>
              <a:rPr lang="en-US" sz="5000">
                <a:solidFill>
                  <a:srgbClr val="FFFFFF"/>
                </a:solidFill>
                <a:latin typeface="AC Diary Girl"/>
                <a:ea typeface="AC Diary Girl"/>
                <a:cs typeface="AC Diary Girl"/>
                <a:sym typeface="AC Diary Girl"/>
              </a:rPr>
              <a:t>1</a:t>
            </a:r>
          </a:p>
        </p:txBody>
      </p:sp>
      <p:sp>
        <p:nvSpPr>
          <p:cNvPr id="9" name="Freeform 9"/>
          <p:cNvSpPr/>
          <p:nvPr/>
        </p:nvSpPr>
        <p:spPr>
          <a:xfrm>
            <a:off x="15533991" y="6870677"/>
            <a:ext cx="2977619" cy="4114800"/>
          </a:xfrm>
          <a:custGeom>
            <a:avLst/>
            <a:gdLst/>
            <a:ahLst/>
            <a:cxnLst/>
            <a:rect l="l" t="t" r="r" b="b"/>
            <a:pathLst>
              <a:path w="2977619" h="4114800">
                <a:moveTo>
                  <a:pt x="0" y="0"/>
                </a:moveTo>
                <a:lnTo>
                  <a:pt x="2977619" y="0"/>
                </a:lnTo>
                <a:lnTo>
                  <a:pt x="2977619" y="4114800"/>
                </a:lnTo>
                <a:lnTo>
                  <a:pt x="0" y="4114800"/>
                </a:lnTo>
                <a:lnTo>
                  <a:pt x="0" y="0"/>
                </a:lnTo>
                <a:close/>
              </a:path>
            </a:pathLst>
          </a:custGeom>
          <a:blipFill>
            <a:blip>
              <a:extLst>
                <a:ext uri="{96DAC541-7B7A-43D3-8B79-37D633B846F1}">
                  <asvg:svgBlip xmlns:asvg="http://schemas.microsoft.com/office/drawing/2016/SVG/main" r:embed="rId3"/>
                </a:ext>
              </a:extLst>
            </a:blip>
            <a:stretch>
              <a:fillRect/>
            </a:stretch>
          </a:blipFill>
        </p:spPr>
      </p:sp>
      <p:sp>
        <p:nvSpPr>
          <p:cNvPr id="10" name="Freeform 10"/>
          <p:cNvSpPr/>
          <p:nvPr/>
        </p:nvSpPr>
        <p:spPr>
          <a:xfrm>
            <a:off x="-425143" y="-389831"/>
            <a:ext cx="2977619" cy="4114800"/>
          </a:xfrm>
          <a:custGeom>
            <a:avLst/>
            <a:gdLst/>
            <a:ahLst/>
            <a:cxnLst/>
            <a:rect l="l" t="t" r="r" b="b"/>
            <a:pathLst>
              <a:path w="2977619" h="4114800">
                <a:moveTo>
                  <a:pt x="0" y="0"/>
                </a:moveTo>
                <a:lnTo>
                  <a:pt x="2977619" y="0"/>
                </a:lnTo>
                <a:lnTo>
                  <a:pt x="2977619" y="4114800"/>
                </a:lnTo>
                <a:lnTo>
                  <a:pt x="0" y="4114800"/>
                </a:lnTo>
                <a:lnTo>
                  <a:pt x="0" y="0"/>
                </a:lnTo>
                <a:close/>
              </a:path>
            </a:pathLst>
          </a:custGeom>
          <a:blipFill>
            <a:blip>
              <a:extLst>
                <a:ext uri="{96DAC541-7B7A-43D3-8B79-37D633B846F1}">
                  <asvg:svgBlip xmlns:asvg="http://schemas.microsoft.com/office/drawing/2016/SVG/main" r:embed="rId3"/>
                </a:ext>
              </a:extLst>
            </a:blip>
            <a:stretch>
              <a:fillRect/>
            </a:stretch>
          </a:blipFill>
        </p:spPr>
      </p:sp>
      <p:grpSp>
        <p:nvGrpSpPr>
          <p:cNvPr id="11" name="Group 11"/>
          <p:cNvGrpSpPr/>
          <p:nvPr/>
        </p:nvGrpSpPr>
        <p:grpSpPr>
          <a:xfrm>
            <a:off x="2157532" y="6218214"/>
            <a:ext cx="6698651" cy="3145707"/>
            <a:chOff x="0" y="0"/>
            <a:chExt cx="1764254" cy="828499"/>
          </a:xfrm>
        </p:grpSpPr>
        <p:sp>
          <p:nvSpPr>
            <p:cNvPr id="12" name="Freeform 12"/>
            <p:cNvSpPr/>
            <p:nvPr/>
          </p:nvSpPr>
          <p:spPr>
            <a:xfrm>
              <a:off x="0" y="0"/>
              <a:ext cx="1764254" cy="828499"/>
            </a:xfrm>
            <a:custGeom>
              <a:avLst/>
              <a:gdLst/>
              <a:ahLst/>
              <a:cxnLst/>
              <a:rect l="l" t="t" r="r" b="b"/>
              <a:pathLst>
                <a:path w="1764254" h="828499">
                  <a:moveTo>
                    <a:pt x="0" y="0"/>
                  </a:moveTo>
                  <a:lnTo>
                    <a:pt x="1764254" y="0"/>
                  </a:lnTo>
                  <a:lnTo>
                    <a:pt x="1764254" y="828499"/>
                  </a:lnTo>
                  <a:lnTo>
                    <a:pt x="0" y="828499"/>
                  </a:lnTo>
                  <a:close/>
                </a:path>
              </a:pathLst>
            </a:custGeom>
            <a:solidFill>
              <a:srgbClr val="337271"/>
            </a:solidFill>
          </p:spPr>
        </p:sp>
        <p:sp>
          <p:nvSpPr>
            <p:cNvPr id="13" name="TextBox 13"/>
            <p:cNvSpPr txBox="1"/>
            <p:nvPr/>
          </p:nvSpPr>
          <p:spPr>
            <a:xfrm>
              <a:off x="0" y="-38100"/>
              <a:ext cx="1764254" cy="866599"/>
            </a:xfrm>
            <a:prstGeom prst="rect">
              <a:avLst/>
            </a:prstGeom>
          </p:spPr>
          <p:txBody>
            <a:bodyPr lIns="50800" tIns="50800" rIns="50800" bIns="50800" rtlCol="0" anchor="ctr"/>
            <a:lstStyle/>
            <a:p>
              <a:pPr algn="ctr">
                <a:lnSpc>
                  <a:spcPts val="2659"/>
                </a:lnSpc>
              </a:pPr>
              <a:endParaRPr/>
            </a:p>
          </p:txBody>
        </p:sp>
      </p:grpSp>
      <p:sp>
        <p:nvSpPr>
          <p:cNvPr id="14" name="TextBox 14"/>
          <p:cNvSpPr txBox="1"/>
          <p:nvPr/>
        </p:nvSpPr>
        <p:spPr>
          <a:xfrm>
            <a:off x="2552476" y="7110276"/>
            <a:ext cx="5908762" cy="2114550"/>
          </a:xfrm>
          <a:prstGeom prst="rect">
            <a:avLst/>
          </a:prstGeom>
        </p:spPr>
        <p:txBody>
          <a:bodyPr lIns="0" tIns="0" rIns="0" bIns="0" rtlCol="0" anchor="t">
            <a:spAutoFit/>
          </a:bodyPr>
          <a:lstStyle/>
          <a:p>
            <a:pPr algn="ctr">
              <a:lnSpc>
                <a:spcPts val="4200"/>
              </a:lnSpc>
            </a:pPr>
            <a:r>
              <a:rPr lang="en-US" sz="3000" b="1">
                <a:solidFill>
                  <a:srgbClr val="FFFFFF"/>
                </a:solidFill>
                <a:latin typeface="Nunito Bold"/>
                <a:ea typeface="Nunito Bold"/>
                <a:cs typeface="Nunito Bold"/>
                <a:sym typeface="Nunito Bold"/>
              </a:rPr>
              <a:t>Scalability Issues</a:t>
            </a:r>
          </a:p>
          <a:p>
            <a:pPr algn="ctr">
              <a:lnSpc>
                <a:spcPts val="4200"/>
              </a:lnSpc>
            </a:pPr>
            <a:r>
              <a:rPr lang="en-US" sz="3000">
                <a:solidFill>
                  <a:srgbClr val="FFFFFF"/>
                </a:solidFill>
                <a:latin typeface="Nunito"/>
                <a:ea typeface="Nunito"/>
                <a:cs typeface="Nunito"/>
                <a:sym typeface="Nunito"/>
              </a:rPr>
              <a:t> Traditional systems cannot handle growing datasets efficiently.</a:t>
            </a:r>
          </a:p>
        </p:txBody>
      </p:sp>
      <p:sp>
        <p:nvSpPr>
          <p:cNvPr id="15" name="TextBox 15"/>
          <p:cNvSpPr txBox="1"/>
          <p:nvPr/>
        </p:nvSpPr>
        <p:spPr>
          <a:xfrm>
            <a:off x="4324346" y="6218101"/>
            <a:ext cx="2365022" cy="855683"/>
          </a:xfrm>
          <a:prstGeom prst="rect">
            <a:avLst/>
          </a:prstGeom>
        </p:spPr>
        <p:txBody>
          <a:bodyPr lIns="0" tIns="0" rIns="0" bIns="0" rtlCol="0" anchor="t">
            <a:spAutoFit/>
          </a:bodyPr>
          <a:lstStyle/>
          <a:p>
            <a:pPr algn="ctr">
              <a:lnSpc>
                <a:spcPts val="7000"/>
              </a:lnSpc>
            </a:pPr>
            <a:r>
              <a:rPr lang="en-US" sz="5000" dirty="0">
                <a:solidFill>
                  <a:srgbClr val="FFFFFF"/>
                </a:solidFill>
                <a:latin typeface="AC Diary Girl"/>
                <a:ea typeface="AC Diary Girl"/>
                <a:cs typeface="AC Diary Girl"/>
                <a:sym typeface="AC Diary Girl"/>
              </a:rPr>
              <a:t>3</a:t>
            </a:r>
          </a:p>
        </p:txBody>
      </p:sp>
      <p:grpSp>
        <p:nvGrpSpPr>
          <p:cNvPr id="16" name="Group 16"/>
          <p:cNvGrpSpPr/>
          <p:nvPr/>
        </p:nvGrpSpPr>
        <p:grpSpPr>
          <a:xfrm>
            <a:off x="9001125" y="2929632"/>
            <a:ext cx="6698651" cy="3145707"/>
            <a:chOff x="0" y="0"/>
            <a:chExt cx="1764254" cy="828499"/>
          </a:xfrm>
        </p:grpSpPr>
        <p:sp>
          <p:nvSpPr>
            <p:cNvPr id="17" name="Freeform 17"/>
            <p:cNvSpPr/>
            <p:nvPr/>
          </p:nvSpPr>
          <p:spPr>
            <a:xfrm>
              <a:off x="0" y="0"/>
              <a:ext cx="1764254" cy="828499"/>
            </a:xfrm>
            <a:custGeom>
              <a:avLst/>
              <a:gdLst/>
              <a:ahLst/>
              <a:cxnLst/>
              <a:rect l="l" t="t" r="r" b="b"/>
              <a:pathLst>
                <a:path w="1764254" h="828499">
                  <a:moveTo>
                    <a:pt x="0" y="0"/>
                  </a:moveTo>
                  <a:lnTo>
                    <a:pt x="1764254" y="0"/>
                  </a:lnTo>
                  <a:lnTo>
                    <a:pt x="1764254" y="828499"/>
                  </a:lnTo>
                  <a:lnTo>
                    <a:pt x="0" y="828499"/>
                  </a:lnTo>
                  <a:close/>
                </a:path>
              </a:pathLst>
            </a:custGeom>
            <a:solidFill>
              <a:srgbClr val="337271"/>
            </a:solidFill>
          </p:spPr>
        </p:sp>
        <p:sp>
          <p:nvSpPr>
            <p:cNvPr id="18" name="TextBox 18"/>
            <p:cNvSpPr txBox="1"/>
            <p:nvPr/>
          </p:nvSpPr>
          <p:spPr>
            <a:xfrm>
              <a:off x="0" y="-38100"/>
              <a:ext cx="1764254" cy="866599"/>
            </a:xfrm>
            <a:prstGeom prst="rect">
              <a:avLst/>
            </a:prstGeom>
          </p:spPr>
          <p:txBody>
            <a:bodyPr lIns="50800" tIns="50800" rIns="50800" bIns="50800" rtlCol="0" anchor="ctr"/>
            <a:lstStyle/>
            <a:p>
              <a:pPr algn="ctr">
                <a:lnSpc>
                  <a:spcPts val="2659"/>
                </a:lnSpc>
              </a:pPr>
              <a:endParaRPr/>
            </a:p>
          </p:txBody>
        </p:sp>
      </p:grpSp>
      <p:sp>
        <p:nvSpPr>
          <p:cNvPr id="19" name="TextBox 19"/>
          <p:cNvSpPr txBox="1"/>
          <p:nvPr/>
        </p:nvSpPr>
        <p:spPr>
          <a:xfrm>
            <a:off x="9396069" y="3821694"/>
            <a:ext cx="5908762" cy="2135200"/>
          </a:xfrm>
          <a:prstGeom prst="rect">
            <a:avLst/>
          </a:prstGeom>
        </p:spPr>
        <p:txBody>
          <a:bodyPr lIns="0" tIns="0" rIns="0" bIns="0" rtlCol="0" anchor="t">
            <a:spAutoFit/>
          </a:bodyPr>
          <a:lstStyle/>
          <a:p>
            <a:pPr algn="ctr">
              <a:lnSpc>
                <a:spcPts val="4200"/>
              </a:lnSpc>
            </a:pPr>
            <a:r>
              <a:rPr lang="en-US" sz="3000" b="1" dirty="0">
                <a:solidFill>
                  <a:srgbClr val="FFFFFF"/>
                </a:solidFill>
                <a:latin typeface="Nunito Bold"/>
                <a:ea typeface="Nunito Bold"/>
                <a:cs typeface="Nunito Bold"/>
                <a:sym typeface="Nunito Bold"/>
              </a:rPr>
              <a:t>Manual Data Processing is Inefficient</a:t>
            </a:r>
          </a:p>
          <a:p>
            <a:pPr algn="ctr">
              <a:lnSpc>
                <a:spcPts val="4200"/>
              </a:lnSpc>
            </a:pPr>
            <a:r>
              <a:rPr lang="en-US" sz="3000" dirty="0">
                <a:solidFill>
                  <a:srgbClr val="FFFFFF"/>
                </a:solidFill>
                <a:latin typeface="Nunito"/>
                <a:ea typeface="Nunito"/>
                <a:cs typeface="Nunito"/>
                <a:sym typeface="Nunito"/>
              </a:rPr>
              <a:t>Without automation, data ingestion &amp; cleaning is slow.</a:t>
            </a:r>
          </a:p>
        </p:txBody>
      </p:sp>
      <p:sp>
        <p:nvSpPr>
          <p:cNvPr id="20" name="TextBox 20"/>
          <p:cNvSpPr txBox="1"/>
          <p:nvPr/>
        </p:nvSpPr>
        <p:spPr>
          <a:xfrm>
            <a:off x="11167939" y="2939044"/>
            <a:ext cx="2365022" cy="855683"/>
          </a:xfrm>
          <a:prstGeom prst="rect">
            <a:avLst/>
          </a:prstGeom>
        </p:spPr>
        <p:txBody>
          <a:bodyPr lIns="0" tIns="0" rIns="0" bIns="0" rtlCol="0" anchor="t">
            <a:spAutoFit/>
          </a:bodyPr>
          <a:lstStyle/>
          <a:p>
            <a:pPr algn="ctr">
              <a:lnSpc>
                <a:spcPts val="7000"/>
              </a:lnSpc>
            </a:pPr>
            <a:r>
              <a:rPr lang="en-US" sz="5000" dirty="0">
                <a:solidFill>
                  <a:srgbClr val="FFFFFF"/>
                </a:solidFill>
                <a:latin typeface="AC Diary Girl"/>
                <a:ea typeface="AC Diary Girl"/>
                <a:cs typeface="AC Diary Girl"/>
                <a:sym typeface="AC Diary Girl"/>
              </a:rPr>
              <a:t>2</a:t>
            </a:r>
          </a:p>
        </p:txBody>
      </p:sp>
      <p:grpSp>
        <p:nvGrpSpPr>
          <p:cNvPr id="21" name="Group 21"/>
          <p:cNvGrpSpPr/>
          <p:nvPr/>
        </p:nvGrpSpPr>
        <p:grpSpPr>
          <a:xfrm>
            <a:off x="9001125" y="6218214"/>
            <a:ext cx="6698651" cy="3145707"/>
            <a:chOff x="0" y="0"/>
            <a:chExt cx="1764254" cy="828499"/>
          </a:xfrm>
        </p:grpSpPr>
        <p:sp>
          <p:nvSpPr>
            <p:cNvPr id="22" name="Freeform 22"/>
            <p:cNvSpPr/>
            <p:nvPr/>
          </p:nvSpPr>
          <p:spPr>
            <a:xfrm>
              <a:off x="0" y="0"/>
              <a:ext cx="1764254" cy="828499"/>
            </a:xfrm>
            <a:custGeom>
              <a:avLst/>
              <a:gdLst/>
              <a:ahLst/>
              <a:cxnLst/>
              <a:rect l="l" t="t" r="r" b="b"/>
              <a:pathLst>
                <a:path w="1764254" h="828499">
                  <a:moveTo>
                    <a:pt x="0" y="0"/>
                  </a:moveTo>
                  <a:lnTo>
                    <a:pt x="1764254" y="0"/>
                  </a:lnTo>
                  <a:lnTo>
                    <a:pt x="1764254" y="828499"/>
                  </a:lnTo>
                  <a:lnTo>
                    <a:pt x="0" y="828499"/>
                  </a:lnTo>
                  <a:close/>
                </a:path>
              </a:pathLst>
            </a:custGeom>
            <a:solidFill>
              <a:srgbClr val="337271"/>
            </a:solidFill>
          </p:spPr>
        </p:sp>
        <p:sp>
          <p:nvSpPr>
            <p:cNvPr id="23" name="TextBox 23"/>
            <p:cNvSpPr txBox="1"/>
            <p:nvPr/>
          </p:nvSpPr>
          <p:spPr>
            <a:xfrm>
              <a:off x="0" y="-38100"/>
              <a:ext cx="1764254" cy="866599"/>
            </a:xfrm>
            <a:prstGeom prst="rect">
              <a:avLst/>
            </a:prstGeom>
          </p:spPr>
          <p:txBody>
            <a:bodyPr lIns="50800" tIns="50800" rIns="50800" bIns="50800" rtlCol="0" anchor="ctr"/>
            <a:lstStyle/>
            <a:p>
              <a:pPr algn="ctr">
                <a:lnSpc>
                  <a:spcPts val="2659"/>
                </a:lnSpc>
              </a:pPr>
              <a:endParaRPr/>
            </a:p>
          </p:txBody>
        </p:sp>
      </p:grpSp>
      <p:sp>
        <p:nvSpPr>
          <p:cNvPr id="24" name="TextBox 24"/>
          <p:cNvSpPr txBox="1"/>
          <p:nvPr/>
        </p:nvSpPr>
        <p:spPr>
          <a:xfrm>
            <a:off x="9281489" y="7110276"/>
            <a:ext cx="6137922" cy="2114550"/>
          </a:xfrm>
          <a:prstGeom prst="rect">
            <a:avLst/>
          </a:prstGeom>
        </p:spPr>
        <p:txBody>
          <a:bodyPr lIns="0" tIns="0" rIns="0" bIns="0" rtlCol="0" anchor="t">
            <a:spAutoFit/>
          </a:bodyPr>
          <a:lstStyle/>
          <a:p>
            <a:pPr algn="ctr">
              <a:lnSpc>
                <a:spcPts val="4200"/>
              </a:lnSpc>
            </a:pPr>
            <a:r>
              <a:rPr lang="en-US" sz="3000" b="1">
                <a:solidFill>
                  <a:srgbClr val="FFFFFF"/>
                </a:solidFill>
                <a:latin typeface="Nunito Bold"/>
                <a:ea typeface="Nunito Bold"/>
                <a:cs typeface="Nunito Bold"/>
                <a:sym typeface="Nunito Bold"/>
              </a:rPr>
              <a:t>Lack of Centralized</a:t>
            </a:r>
          </a:p>
          <a:p>
            <a:pPr algn="ctr">
              <a:lnSpc>
                <a:spcPts val="4200"/>
              </a:lnSpc>
            </a:pPr>
            <a:r>
              <a:rPr lang="en-US" sz="3000">
                <a:solidFill>
                  <a:srgbClr val="FFFFFF"/>
                </a:solidFill>
                <a:latin typeface="Nunito"/>
                <a:ea typeface="Nunito"/>
                <a:cs typeface="Nunito"/>
                <a:sym typeface="Nunito"/>
              </a:rPr>
              <a:t> Analytics Layer Businesses struggle to generate fast insights from fragmented data.</a:t>
            </a:r>
          </a:p>
        </p:txBody>
      </p:sp>
      <p:sp>
        <p:nvSpPr>
          <p:cNvPr id="25" name="TextBox 25"/>
          <p:cNvSpPr txBox="1"/>
          <p:nvPr/>
        </p:nvSpPr>
        <p:spPr>
          <a:xfrm>
            <a:off x="11167939" y="6218101"/>
            <a:ext cx="2365022" cy="901700"/>
          </a:xfrm>
          <a:prstGeom prst="rect">
            <a:avLst/>
          </a:prstGeom>
        </p:spPr>
        <p:txBody>
          <a:bodyPr lIns="0" tIns="0" rIns="0" bIns="0" rtlCol="0" anchor="t">
            <a:spAutoFit/>
          </a:bodyPr>
          <a:lstStyle/>
          <a:p>
            <a:pPr algn="ctr">
              <a:lnSpc>
                <a:spcPts val="7000"/>
              </a:lnSpc>
            </a:pPr>
            <a:r>
              <a:rPr lang="en-US" sz="5000">
                <a:solidFill>
                  <a:srgbClr val="FFFFFF"/>
                </a:solidFill>
                <a:latin typeface="AC Diary Girl"/>
                <a:ea typeface="AC Diary Girl"/>
                <a:cs typeface="AC Diary Girl"/>
                <a:sym typeface="AC Diary Girl"/>
              </a:rPr>
              <a:t>4</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t="-83416" b="-83416"/>
            </a:stretch>
          </a:blipFill>
        </p:spPr>
      </p:sp>
      <p:grpSp>
        <p:nvGrpSpPr>
          <p:cNvPr id="3" name="Group 3"/>
          <p:cNvGrpSpPr/>
          <p:nvPr/>
        </p:nvGrpSpPr>
        <p:grpSpPr>
          <a:xfrm>
            <a:off x="3512678" y="3614092"/>
            <a:ext cx="1393186" cy="1125001"/>
            <a:chOff x="0" y="0"/>
            <a:chExt cx="366930" cy="296297"/>
          </a:xfrm>
        </p:grpSpPr>
        <p:sp>
          <p:nvSpPr>
            <p:cNvPr id="4" name="Freeform 4"/>
            <p:cNvSpPr/>
            <p:nvPr/>
          </p:nvSpPr>
          <p:spPr>
            <a:xfrm>
              <a:off x="0" y="0"/>
              <a:ext cx="366930" cy="296297"/>
            </a:xfrm>
            <a:custGeom>
              <a:avLst/>
              <a:gdLst/>
              <a:ahLst/>
              <a:cxnLst/>
              <a:rect l="l" t="t" r="r" b="b"/>
              <a:pathLst>
                <a:path w="366930" h="296297">
                  <a:moveTo>
                    <a:pt x="0" y="0"/>
                  </a:moveTo>
                  <a:lnTo>
                    <a:pt x="366930" y="0"/>
                  </a:lnTo>
                  <a:lnTo>
                    <a:pt x="366930" y="296297"/>
                  </a:lnTo>
                  <a:lnTo>
                    <a:pt x="0" y="296297"/>
                  </a:lnTo>
                  <a:close/>
                </a:path>
              </a:pathLst>
            </a:custGeom>
            <a:solidFill>
              <a:srgbClr val="337271"/>
            </a:solidFill>
            <a:ln cap="sq">
              <a:noFill/>
              <a:prstDash val="solid"/>
              <a:miter/>
            </a:ln>
          </p:spPr>
        </p:sp>
        <p:sp>
          <p:nvSpPr>
            <p:cNvPr id="5" name="TextBox 5"/>
            <p:cNvSpPr txBox="1"/>
            <p:nvPr/>
          </p:nvSpPr>
          <p:spPr>
            <a:xfrm>
              <a:off x="0" y="-38100"/>
              <a:ext cx="366930" cy="334397"/>
            </a:xfrm>
            <a:prstGeom prst="rect">
              <a:avLst/>
            </a:prstGeom>
          </p:spPr>
          <p:txBody>
            <a:bodyPr lIns="50800" tIns="50800" rIns="50800" bIns="50800" rtlCol="0" anchor="ctr"/>
            <a:lstStyle/>
            <a:p>
              <a:pPr algn="ctr">
                <a:lnSpc>
                  <a:spcPts val="2659"/>
                </a:lnSpc>
                <a:spcBef>
                  <a:spcPct val="0"/>
                </a:spcBef>
              </a:pPr>
              <a:endParaRPr/>
            </a:p>
          </p:txBody>
        </p:sp>
      </p:grpSp>
      <p:grpSp>
        <p:nvGrpSpPr>
          <p:cNvPr id="6" name="Group 6"/>
          <p:cNvGrpSpPr/>
          <p:nvPr/>
        </p:nvGrpSpPr>
        <p:grpSpPr>
          <a:xfrm>
            <a:off x="2046771" y="4461140"/>
            <a:ext cx="13778041" cy="4118257"/>
            <a:chOff x="0" y="0"/>
            <a:chExt cx="3628785" cy="1084644"/>
          </a:xfrm>
        </p:grpSpPr>
        <p:sp>
          <p:nvSpPr>
            <p:cNvPr id="7" name="Freeform 7"/>
            <p:cNvSpPr/>
            <p:nvPr/>
          </p:nvSpPr>
          <p:spPr>
            <a:xfrm>
              <a:off x="0" y="0"/>
              <a:ext cx="3628785" cy="1084644"/>
            </a:xfrm>
            <a:custGeom>
              <a:avLst/>
              <a:gdLst/>
              <a:ahLst/>
              <a:cxnLst/>
              <a:rect l="l" t="t" r="r" b="b"/>
              <a:pathLst>
                <a:path w="3628785" h="1084644">
                  <a:moveTo>
                    <a:pt x="56190" y="0"/>
                  </a:moveTo>
                  <a:lnTo>
                    <a:pt x="3572594" y="0"/>
                  </a:lnTo>
                  <a:cubicBezTo>
                    <a:pt x="3603627" y="0"/>
                    <a:pt x="3628785" y="25157"/>
                    <a:pt x="3628785" y="56190"/>
                  </a:cubicBezTo>
                  <a:lnTo>
                    <a:pt x="3628785" y="1028454"/>
                  </a:lnTo>
                  <a:cubicBezTo>
                    <a:pt x="3628785" y="1043356"/>
                    <a:pt x="3622865" y="1057648"/>
                    <a:pt x="3612327" y="1068186"/>
                  </a:cubicBezTo>
                  <a:cubicBezTo>
                    <a:pt x="3601789" y="1078724"/>
                    <a:pt x="3587497" y="1084644"/>
                    <a:pt x="3572594" y="1084644"/>
                  </a:cubicBezTo>
                  <a:lnTo>
                    <a:pt x="56190" y="1084644"/>
                  </a:lnTo>
                  <a:cubicBezTo>
                    <a:pt x="25157" y="1084644"/>
                    <a:pt x="0" y="1059487"/>
                    <a:pt x="0" y="1028454"/>
                  </a:cubicBezTo>
                  <a:lnTo>
                    <a:pt x="0" y="56190"/>
                  </a:lnTo>
                  <a:cubicBezTo>
                    <a:pt x="0" y="25157"/>
                    <a:pt x="25157" y="0"/>
                    <a:pt x="56190" y="0"/>
                  </a:cubicBezTo>
                  <a:close/>
                </a:path>
              </a:pathLst>
            </a:custGeom>
            <a:ln w="47625" cap="rnd">
              <a:solidFill>
                <a:srgbClr val="337271"/>
              </a:solidFill>
              <a:prstDash val="lgDash"/>
              <a:round/>
            </a:ln>
          </p:spPr>
        </p:sp>
        <p:sp>
          <p:nvSpPr>
            <p:cNvPr id="8" name="TextBox 8"/>
            <p:cNvSpPr txBox="1"/>
            <p:nvPr/>
          </p:nvSpPr>
          <p:spPr>
            <a:xfrm>
              <a:off x="0" y="-38100"/>
              <a:ext cx="3628785" cy="1122744"/>
            </a:xfrm>
            <a:prstGeom prst="rect">
              <a:avLst/>
            </a:prstGeom>
          </p:spPr>
          <p:txBody>
            <a:bodyPr lIns="50800" tIns="50800" rIns="50800" bIns="50800" rtlCol="0" anchor="ctr"/>
            <a:lstStyle/>
            <a:p>
              <a:pPr algn="ctr">
                <a:lnSpc>
                  <a:spcPts val="2659"/>
                </a:lnSpc>
              </a:pPr>
              <a:endParaRPr/>
            </a:p>
          </p:txBody>
        </p:sp>
      </p:grpSp>
      <p:sp>
        <p:nvSpPr>
          <p:cNvPr id="9" name="TextBox 9"/>
          <p:cNvSpPr txBox="1"/>
          <p:nvPr/>
        </p:nvSpPr>
        <p:spPr>
          <a:xfrm>
            <a:off x="4796206" y="800509"/>
            <a:ext cx="8695587" cy="1628773"/>
          </a:xfrm>
          <a:prstGeom prst="rect">
            <a:avLst/>
          </a:prstGeom>
        </p:spPr>
        <p:txBody>
          <a:bodyPr lIns="0" tIns="0" rIns="0" bIns="0" rtlCol="0" anchor="t">
            <a:spAutoFit/>
          </a:bodyPr>
          <a:lstStyle/>
          <a:p>
            <a:pPr algn="ctr">
              <a:lnSpc>
                <a:spcPts val="12600"/>
              </a:lnSpc>
            </a:pPr>
            <a:r>
              <a:rPr lang="en-US" sz="9000">
                <a:solidFill>
                  <a:srgbClr val="337271"/>
                </a:solidFill>
                <a:latin typeface="AC Diary Girl"/>
                <a:ea typeface="AC Diary Girl"/>
                <a:cs typeface="AC Diary Girl"/>
                <a:sym typeface="AC Diary Girl"/>
              </a:rPr>
              <a:t>Process</a:t>
            </a:r>
          </a:p>
        </p:txBody>
      </p:sp>
      <p:sp>
        <p:nvSpPr>
          <p:cNvPr id="10" name="TextBox 10"/>
          <p:cNvSpPr txBox="1"/>
          <p:nvPr/>
        </p:nvSpPr>
        <p:spPr>
          <a:xfrm>
            <a:off x="3138223" y="5945159"/>
            <a:ext cx="5542625" cy="1810385"/>
          </a:xfrm>
          <a:prstGeom prst="rect">
            <a:avLst/>
          </a:prstGeom>
        </p:spPr>
        <p:txBody>
          <a:bodyPr lIns="0" tIns="0" rIns="0" bIns="0" rtlCol="0" anchor="t">
            <a:spAutoFit/>
          </a:bodyPr>
          <a:lstStyle/>
          <a:p>
            <a:pPr marL="561339" lvl="1" indent="-280669" algn="l">
              <a:lnSpc>
                <a:spcPts val="3639"/>
              </a:lnSpc>
              <a:buFont typeface="Arial"/>
              <a:buChar char="•"/>
            </a:pPr>
            <a:r>
              <a:rPr lang="en-US" sz="2599">
                <a:solidFill>
                  <a:srgbClr val="337271"/>
                </a:solidFill>
                <a:latin typeface="Nunito"/>
                <a:ea typeface="Nunito"/>
                <a:cs typeface="Nunito"/>
                <a:sym typeface="Nunito"/>
              </a:rPr>
              <a:t>Create Azure resources</a:t>
            </a:r>
          </a:p>
          <a:p>
            <a:pPr marL="561339" lvl="1" indent="-280669" algn="l">
              <a:lnSpc>
                <a:spcPts val="3639"/>
              </a:lnSpc>
              <a:buFont typeface="Arial"/>
              <a:buChar char="•"/>
            </a:pPr>
            <a:r>
              <a:rPr lang="en-US" sz="2599">
                <a:solidFill>
                  <a:srgbClr val="337271"/>
                </a:solidFill>
                <a:latin typeface="Nunito"/>
                <a:ea typeface="Nunito"/>
                <a:cs typeface="Nunito"/>
                <a:sym typeface="Nunito"/>
              </a:rPr>
              <a:t>Configure Data Factory pipelines</a:t>
            </a:r>
          </a:p>
          <a:p>
            <a:pPr marL="561339" lvl="1" indent="-280669" algn="l">
              <a:lnSpc>
                <a:spcPts val="3639"/>
              </a:lnSpc>
              <a:buFont typeface="Arial"/>
              <a:buChar char="•"/>
            </a:pPr>
            <a:r>
              <a:rPr lang="en-US" sz="2599">
                <a:solidFill>
                  <a:srgbClr val="337271"/>
                </a:solidFill>
                <a:latin typeface="Nunito"/>
                <a:ea typeface="Nunito"/>
                <a:cs typeface="Nunito"/>
                <a:sym typeface="Nunito"/>
              </a:rPr>
              <a:t>Extract data from API/dataset</a:t>
            </a:r>
          </a:p>
          <a:p>
            <a:pPr algn="ctr">
              <a:lnSpc>
                <a:spcPts val="3639"/>
              </a:lnSpc>
            </a:pPr>
            <a:endParaRPr lang="en-US" sz="2599">
              <a:solidFill>
                <a:srgbClr val="337271"/>
              </a:solidFill>
              <a:latin typeface="Nunito"/>
              <a:ea typeface="Nunito"/>
              <a:cs typeface="Nunito"/>
              <a:sym typeface="Nunito"/>
            </a:endParaRPr>
          </a:p>
        </p:txBody>
      </p:sp>
      <p:sp>
        <p:nvSpPr>
          <p:cNvPr id="11" name="TextBox 11"/>
          <p:cNvSpPr txBox="1"/>
          <p:nvPr/>
        </p:nvSpPr>
        <p:spPr>
          <a:xfrm>
            <a:off x="3663257" y="3654305"/>
            <a:ext cx="1092028" cy="901700"/>
          </a:xfrm>
          <a:prstGeom prst="rect">
            <a:avLst/>
          </a:prstGeom>
        </p:spPr>
        <p:txBody>
          <a:bodyPr lIns="0" tIns="0" rIns="0" bIns="0" rtlCol="0" anchor="t">
            <a:spAutoFit/>
          </a:bodyPr>
          <a:lstStyle/>
          <a:p>
            <a:pPr algn="ctr">
              <a:lnSpc>
                <a:spcPts val="7000"/>
              </a:lnSpc>
            </a:pPr>
            <a:r>
              <a:rPr lang="en-US" sz="5000">
                <a:solidFill>
                  <a:srgbClr val="FFFFFF"/>
                </a:solidFill>
                <a:latin typeface="AC Diary Girl"/>
                <a:ea typeface="AC Diary Girl"/>
                <a:cs typeface="AC Diary Girl"/>
                <a:sym typeface="AC Diary Girl"/>
              </a:rPr>
              <a:t>1</a:t>
            </a:r>
          </a:p>
        </p:txBody>
      </p:sp>
      <p:sp>
        <p:nvSpPr>
          <p:cNvPr id="12" name="Freeform 12"/>
          <p:cNvSpPr/>
          <p:nvPr/>
        </p:nvSpPr>
        <p:spPr>
          <a:xfrm>
            <a:off x="-334072" y="-1475968"/>
            <a:ext cx="3808435" cy="4114800"/>
          </a:xfrm>
          <a:custGeom>
            <a:avLst/>
            <a:gdLst/>
            <a:ahLst/>
            <a:cxnLst/>
            <a:rect l="l" t="t" r="r" b="b"/>
            <a:pathLst>
              <a:path w="3808435" h="4114800">
                <a:moveTo>
                  <a:pt x="0" y="0"/>
                </a:moveTo>
                <a:lnTo>
                  <a:pt x="3808435" y="0"/>
                </a:lnTo>
                <a:lnTo>
                  <a:pt x="3808435" y="4114800"/>
                </a:lnTo>
                <a:lnTo>
                  <a:pt x="0" y="4114800"/>
                </a:lnTo>
                <a:lnTo>
                  <a:pt x="0" y="0"/>
                </a:lnTo>
                <a:close/>
              </a:path>
            </a:pathLst>
          </a:custGeom>
          <a:blipFill>
            <a:blip>
              <a:extLst>
                <a:ext uri="{96DAC541-7B7A-43D3-8B79-37D633B846F1}">
                  <asvg:svgBlip xmlns:asvg="http://schemas.microsoft.com/office/drawing/2016/SVG/main" r:embed="rId3"/>
                </a:ext>
              </a:extLst>
            </a:blip>
            <a:stretch>
              <a:fillRect/>
            </a:stretch>
          </a:blipFill>
        </p:spPr>
      </p:sp>
      <p:sp>
        <p:nvSpPr>
          <p:cNvPr id="13" name="TextBox 13"/>
          <p:cNvSpPr txBox="1"/>
          <p:nvPr/>
        </p:nvSpPr>
        <p:spPr>
          <a:xfrm>
            <a:off x="6626990" y="4857115"/>
            <a:ext cx="4922403" cy="438785"/>
          </a:xfrm>
          <a:prstGeom prst="rect">
            <a:avLst/>
          </a:prstGeom>
        </p:spPr>
        <p:txBody>
          <a:bodyPr lIns="0" tIns="0" rIns="0" bIns="0" rtlCol="0" anchor="t">
            <a:spAutoFit/>
          </a:bodyPr>
          <a:lstStyle/>
          <a:p>
            <a:pPr algn="ctr">
              <a:lnSpc>
                <a:spcPts val="3639"/>
              </a:lnSpc>
            </a:pPr>
            <a:r>
              <a:rPr lang="en-US" sz="2599">
                <a:solidFill>
                  <a:srgbClr val="337271"/>
                </a:solidFill>
                <a:latin typeface="Nunito"/>
                <a:ea typeface="Nunito"/>
                <a:cs typeface="Nunito"/>
                <a:sym typeface="Nunito"/>
              </a:rPr>
              <a:t> </a:t>
            </a:r>
            <a:r>
              <a:rPr lang="en-US" sz="2599" b="1">
                <a:solidFill>
                  <a:srgbClr val="337271"/>
                </a:solidFill>
                <a:latin typeface="Nunito Bold"/>
                <a:ea typeface="Nunito Bold"/>
                <a:cs typeface="Nunito Bold"/>
                <a:sym typeface="Nunito Bold"/>
              </a:rPr>
              <a:t>Data Ingestion – Bronze Layer</a:t>
            </a:r>
          </a:p>
        </p:txBody>
      </p:sp>
      <p:sp>
        <p:nvSpPr>
          <p:cNvPr id="14" name="TextBox 14"/>
          <p:cNvSpPr txBox="1"/>
          <p:nvPr/>
        </p:nvSpPr>
        <p:spPr>
          <a:xfrm>
            <a:off x="9144000" y="5945159"/>
            <a:ext cx="5842043" cy="1810385"/>
          </a:xfrm>
          <a:prstGeom prst="rect">
            <a:avLst/>
          </a:prstGeom>
        </p:spPr>
        <p:txBody>
          <a:bodyPr lIns="0" tIns="0" rIns="0" bIns="0" rtlCol="0" anchor="t">
            <a:spAutoFit/>
          </a:bodyPr>
          <a:lstStyle/>
          <a:p>
            <a:pPr marL="561339" lvl="1" indent="-280669" algn="l">
              <a:lnSpc>
                <a:spcPts val="3639"/>
              </a:lnSpc>
              <a:buFont typeface="Arial"/>
              <a:buChar char="•"/>
            </a:pPr>
            <a:r>
              <a:rPr lang="en-US" sz="2599">
                <a:solidFill>
                  <a:srgbClr val="337271"/>
                </a:solidFill>
                <a:latin typeface="Nunito"/>
                <a:ea typeface="Nunito"/>
                <a:cs typeface="Nunito"/>
                <a:sym typeface="Nunito"/>
              </a:rPr>
              <a:t>Store raw data in Data Lake Gen2</a:t>
            </a:r>
          </a:p>
          <a:p>
            <a:pPr marL="561339" lvl="1" indent="-280669" algn="l">
              <a:lnSpc>
                <a:spcPts val="3639"/>
              </a:lnSpc>
              <a:buFont typeface="Arial"/>
              <a:buChar char="•"/>
            </a:pPr>
            <a:r>
              <a:rPr lang="en-US" sz="2599">
                <a:solidFill>
                  <a:srgbClr val="337271"/>
                </a:solidFill>
                <a:latin typeface="Nunito"/>
                <a:ea typeface="Nunito"/>
                <a:cs typeface="Nunito"/>
                <a:sym typeface="Nunito"/>
              </a:rPr>
              <a:t>Maintain original format for traceability</a:t>
            </a:r>
          </a:p>
          <a:p>
            <a:pPr algn="ctr">
              <a:lnSpc>
                <a:spcPts val="3639"/>
              </a:lnSpc>
            </a:pPr>
            <a:endParaRPr lang="en-US" sz="2599">
              <a:solidFill>
                <a:srgbClr val="337271"/>
              </a:solidFill>
              <a:latin typeface="Nunito"/>
              <a:ea typeface="Nunito"/>
              <a:cs typeface="Nunito"/>
              <a:sym typeface="Nunito"/>
            </a:endParaRPr>
          </a:p>
        </p:txBody>
      </p:sp>
      <p:sp>
        <p:nvSpPr>
          <p:cNvPr id="15" name="TextBox 15"/>
          <p:cNvSpPr txBox="1"/>
          <p:nvPr/>
        </p:nvSpPr>
        <p:spPr>
          <a:xfrm>
            <a:off x="5683272" y="7707919"/>
            <a:ext cx="6505039" cy="438785"/>
          </a:xfrm>
          <a:prstGeom prst="rect">
            <a:avLst/>
          </a:prstGeom>
        </p:spPr>
        <p:txBody>
          <a:bodyPr lIns="0" tIns="0" rIns="0" bIns="0" rtlCol="0" anchor="t">
            <a:spAutoFit/>
          </a:bodyPr>
          <a:lstStyle/>
          <a:p>
            <a:pPr algn="ctr">
              <a:lnSpc>
                <a:spcPts val="3639"/>
              </a:lnSpc>
            </a:pPr>
            <a:r>
              <a:rPr lang="en-US" sz="2599" b="1">
                <a:solidFill>
                  <a:srgbClr val="337271"/>
                </a:solidFill>
                <a:latin typeface="Nunito Bold"/>
                <a:ea typeface="Nunito Bold"/>
                <a:cs typeface="Nunito Bold"/>
                <a:sym typeface="Nunito Bold"/>
              </a:rPr>
              <a:t>Outcome</a:t>
            </a:r>
            <a:r>
              <a:rPr lang="en-US" sz="2599">
                <a:solidFill>
                  <a:srgbClr val="337271"/>
                </a:solidFill>
                <a:latin typeface="Nunito"/>
                <a:ea typeface="Nunito"/>
                <a:cs typeface="Nunito"/>
                <a:sym typeface="Nunito"/>
              </a:rPr>
              <a:t>: Raw data safely stored in cloud.</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t="-83416" b="-83416"/>
            </a:stretch>
          </a:blipFill>
        </p:spPr>
      </p:sp>
      <p:grpSp>
        <p:nvGrpSpPr>
          <p:cNvPr id="3" name="Group 3"/>
          <p:cNvGrpSpPr/>
          <p:nvPr/>
        </p:nvGrpSpPr>
        <p:grpSpPr>
          <a:xfrm>
            <a:off x="3512678" y="3614092"/>
            <a:ext cx="1393186" cy="1125001"/>
            <a:chOff x="0" y="0"/>
            <a:chExt cx="366930" cy="296297"/>
          </a:xfrm>
        </p:grpSpPr>
        <p:sp>
          <p:nvSpPr>
            <p:cNvPr id="4" name="Freeform 4"/>
            <p:cNvSpPr/>
            <p:nvPr/>
          </p:nvSpPr>
          <p:spPr>
            <a:xfrm>
              <a:off x="0" y="0"/>
              <a:ext cx="366930" cy="296297"/>
            </a:xfrm>
            <a:custGeom>
              <a:avLst/>
              <a:gdLst/>
              <a:ahLst/>
              <a:cxnLst/>
              <a:rect l="l" t="t" r="r" b="b"/>
              <a:pathLst>
                <a:path w="366930" h="296297">
                  <a:moveTo>
                    <a:pt x="0" y="0"/>
                  </a:moveTo>
                  <a:lnTo>
                    <a:pt x="366930" y="0"/>
                  </a:lnTo>
                  <a:lnTo>
                    <a:pt x="366930" y="296297"/>
                  </a:lnTo>
                  <a:lnTo>
                    <a:pt x="0" y="296297"/>
                  </a:lnTo>
                  <a:close/>
                </a:path>
              </a:pathLst>
            </a:custGeom>
            <a:solidFill>
              <a:srgbClr val="337271"/>
            </a:solidFill>
            <a:ln cap="sq">
              <a:noFill/>
              <a:prstDash val="solid"/>
              <a:miter/>
            </a:ln>
          </p:spPr>
        </p:sp>
        <p:sp>
          <p:nvSpPr>
            <p:cNvPr id="5" name="TextBox 5"/>
            <p:cNvSpPr txBox="1"/>
            <p:nvPr/>
          </p:nvSpPr>
          <p:spPr>
            <a:xfrm>
              <a:off x="0" y="-38100"/>
              <a:ext cx="366930" cy="334397"/>
            </a:xfrm>
            <a:prstGeom prst="rect">
              <a:avLst/>
            </a:prstGeom>
          </p:spPr>
          <p:txBody>
            <a:bodyPr lIns="50800" tIns="50800" rIns="50800" bIns="50800" rtlCol="0" anchor="ctr"/>
            <a:lstStyle/>
            <a:p>
              <a:pPr algn="ctr">
                <a:lnSpc>
                  <a:spcPts val="2659"/>
                </a:lnSpc>
                <a:spcBef>
                  <a:spcPct val="0"/>
                </a:spcBef>
              </a:pPr>
              <a:endParaRPr/>
            </a:p>
          </p:txBody>
        </p:sp>
      </p:grpSp>
      <p:grpSp>
        <p:nvGrpSpPr>
          <p:cNvPr id="6" name="Group 6"/>
          <p:cNvGrpSpPr/>
          <p:nvPr/>
        </p:nvGrpSpPr>
        <p:grpSpPr>
          <a:xfrm>
            <a:off x="2046771" y="4461140"/>
            <a:ext cx="13778041" cy="4118257"/>
            <a:chOff x="0" y="0"/>
            <a:chExt cx="3628785" cy="1084644"/>
          </a:xfrm>
        </p:grpSpPr>
        <p:sp>
          <p:nvSpPr>
            <p:cNvPr id="7" name="Freeform 7"/>
            <p:cNvSpPr/>
            <p:nvPr/>
          </p:nvSpPr>
          <p:spPr>
            <a:xfrm>
              <a:off x="0" y="0"/>
              <a:ext cx="3628785" cy="1084644"/>
            </a:xfrm>
            <a:custGeom>
              <a:avLst/>
              <a:gdLst/>
              <a:ahLst/>
              <a:cxnLst/>
              <a:rect l="l" t="t" r="r" b="b"/>
              <a:pathLst>
                <a:path w="3628785" h="1084644">
                  <a:moveTo>
                    <a:pt x="56190" y="0"/>
                  </a:moveTo>
                  <a:lnTo>
                    <a:pt x="3572594" y="0"/>
                  </a:lnTo>
                  <a:cubicBezTo>
                    <a:pt x="3603627" y="0"/>
                    <a:pt x="3628785" y="25157"/>
                    <a:pt x="3628785" y="56190"/>
                  </a:cubicBezTo>
                  <a:lnTo>
                    <a:pt x="3628785" y="1028454"/>
                  </a:lnTo>
                  <a:cubicBezTo>
                    <a:pt x="3628785" y="1043356"/>
                    <a:pt x="3622865" y="1057648"/>
                    <a:pt x="3612327" y="1068186"/>
                  </a:cubicBezTo>
                  <a:cubicBezTo>
                    <a:pt x="3601789" y="1078724"/>
                    <a:pt x="3587497" y="1084644"/>
                    <a:pt x="3572594" y="1084644"/>
                  </a:cubicBezTo>
                  <a:lnTo>
                    <a:pt x="56190" y="1084644"/>
                  </a:lnTo>
                  <a:cubicBezTo>
                    <a:pt x="25157" y="1084644"/>
                    <a:pt x="0" y="1059487"/>
                    <a:pt x="0" y="1028454"/>
                  </a:cubicBezTo>
                  <a:lnTo>
                    <a:pt x="0" y="56190"/>
                  </a:lnTo>
                  <a:cubicBezTo>
                    <a:pt x="0" y="25157"/>
                    <a:pt x="25157" y="0"/>
                    <a:pt x="56190" y="0"/>
                  </a:cubicBezTo>
                  <a:close/>
                </a:path>
              </a:pathLst>
            </a:custGeom>
            <a:ln w="47625" cap="rnd">
              <a:solidFill>
                <a:srgbClr val="337271"/>
              </a:solidFill>
              <a:prstDash val="lgDash"/>
              <a:round/>
            </a:ln>
          </p:spPr>
        </p:sp>
        <p:sp>
          <p:nvSpPr>
            <p:cNvPr id="8" name="TextBox 8"/>
            <p:cNvSpPr txBox="1"/>
            <p:nvPr/>
          </p:nvSpPr>
          <p:spPr>
            <a:xfrm>
              <a:off x="0" y="-38100"/>
              <a:ext cx="3628785" cy="1122744"/>
            </a:xfrm>
            <a:prstGeom prst="rect">
              <a:avLst/>
            </a:prstGeom>
          </p:spPr>
          <p:txBody>
            <a:bodyPr lIns="50800" tIns="50800" rIns="50800" bIns="50800" rtlCol="0" anchor="ctr"/>
            <a:lstStyle/>
            <a:p>
              <a:pPr algn="ctr">
                <a:lnSpc>
                  <a:spcPts val="2659"/>
                </a:lnSpc>
              </a:pPr>
              <a:endParaRPr/>
            </a:p>
          </p:txBody>
        </p:sp>
      </p:grpSp>
      <p:sp>
        <p:nvSpPr>
          <p:cNvPr id="9" name="TextBox 9"/>
          <p:cNvSpPr txBox="1"/>
          <p:nvPr/>
        </p:nvSpPr>
        <p:spPr>
          <a:xfrm>
            <a:off x="4796206" y="800509"/>
            <a:ext cx="8695587" cy="1628773"/>
          </a:xfrm>
          <a:prstGeom prst="rect">
            <a:avLst/>
          </a:prstGeom>
        </p:spPr>
        <p:txBody>
          <a:bodyPr lIns="0" tIns="0" rIns="0" bIns="0" rtlCol="0" anchor="t">
            <a:spAutoFit/>
          </a:bodyPr>
          <a:lstStyle/>
          <a:p>
            <a:pPr algn="ctr">
              <a:lnSpc>
                <a:spcPts val="12600"/>
              </a:lnSpc>
            </a:pPr>
            <a:r>
              <a:rPr lang="en-US" sz="9000">
                <a:solidFill>
                  <a:srgbClr val="337271"/>
                </a:solidFill>
                <a:latin typeface="AC Diary Girl"/>
                <a:ea typeface="AC Diary Girl"/>
                <a:cs typeface="AC Diary Girl"/>
                <a:sym typeface="AC Diary Girl"/>
              </a:rPr>
              <a:t>Process</a:t>
            </a:r>
          </a:p>
        </p:txBody>
      </p:sp>
      <p:sp>
        <p:nvSpPr>
          <p:cNvPr id="10" name="TextBox 10"/>
          <p:cNvSpPr txBox="1"/>
          <p:nvPr/>
        </p:nvSpPr>
        <p:spPr>
          <a:xfrm>
            <a:off x="3138223" y="5773709"/>
            <a:ext cx="5542625" cy="1810385"/>
          </a:xfrm>
          <a:prstGeom prst="rect">
            <a:avLst/>
          </a:prstGeom>
        </p:spPr>
        <p:txBody>
          <a:bodyPr lIns="0" tIns="0" rIns="0" bIns="0" rtlCol="0" anchor="t">
            <a:spAutoFit/>
          </a:bodyPr>
          <a:lstStyle/>
          <a:p>
            <a:pPr marL="561339" lvl="1" indent="-280669" algn="l">
              <a:lnSpc>
                <a:spcPts val="3639"/>
              </a:lnSpc>
              <a:buFont typeface="Arial"/>
              <a:buChar char="•"/>
            </a:pPr>
            <a:r>
              <a:rPr lang="en-US" sz="2599">
                <a:solidFill>
                  <a:srgbClr val="337271"/>
                </a:solidFill>
                <a:latin typeface="Nunito"/>
                <a:ea typeface="Nunito"/>
                <a:cs typeface="Nunito"/>
                <a:sym typeface="Nunito"/>
              </a:rPr>
              <a:t>Create Databricks workspace &amp; cluster</a:t>
            </a:r>
          </a:p>
          <a:p>
            <a:pPr marL="561339" lvl="1" indent="-280669" algn="l">
              <a:lnSpc>
                <a:spcPts val="3639"/>
              </a:lnSpc>
              <a:buFont typeface="Arial"/>
              <a:buChar char="•"/>
            </a:pPr>
            <a:r>
              <a:rPr lang="en-US" sz="2599">
                <a:solidFill>
                  <a:srgbClr val="337271"/>
                </a:solidFill>
                <a:latin typeface="Nunito"/>
                <a:ea typeface="Nunito"/>
                <a:cs typeface="Nunito"/>
                <a:sym typeface="Nunito"/>
              </a:rPr>
              <a:t>Connect to Data Lake</a:t>
            </a:r>
          </a:p>
          <a:p>
            <a:pPr algn="ctr">
              <a:lnSpc>
                <a:spcPts val="3639"/>
              </a:lnSpc>
            </a:pPr>
            <a:endParaRPr lang="en-US" sz="2599">
              <a:solidFill>
                <a:srgbClr val="337271"/>
              </a:solidFill>
              <a:latin typeface="Nunito"/>
              <a:ea typeface="Nunito"/>
              <a:cs typeface="Nunito"/>
              <a:sym typeface="Nunito"/>
            </a:endParaRPr>
          </a:p>
        </p:txBody>
      </p:sp>
      <p:sp>
        <p:nvSpPr>
          <p:cNvPr id="11" name="TextBox 11"/>
          <p:cNvSpPr txBox="1"/>
          <p:nvPr/>
        </p:nvSpPr>
        <p:spPr>
          <a:xfrm>
            <a:off x="3663257" y="3654305"/>
            <a:ext cx="1092028" cy="901700"/>
          </a:xfrm>
          <a:prstGeom prst="rect">
            <a:avLst/>
          </a:prstGeom>
        </p:spPr>
        <p:txBody>
          <a:bodyPr lIns="0" tIns="0" rIns="0" bIns="0" rtlCol="0" anchor="t">
            <a:spAutoFit/>
          </a:bodyPr>
          <a:lstStyle/>
          <a:p>
            <a:pPr algn="ctr">
              <a:lnSpc>
                <a:spcPts val="7000"/>
              </a:lnSpc>
            </a:pPr>
            <a:r>
              <a:rPr lang="en-US" sz="5000">
                <a:solidFill>
                  <a:srgbClr val="FFFFFF"/>
                </a:solidFill>
                <a:latin typeface="AC Diary Girl"/>
                <a:ea typeface="AC Diary Girl"/>
                <a:cs typeface="AC Diary Girl"/>
                <a:sym typeface="AC Diary Girl"/>
              </a:rPr>
              <a:t>2</a:t>
            </a:r>
          </a:p>
        </p:txBody>
      </p:sp>
      <p:sp>
        <p:nvSpPr>
          <p:cNvPr id="12" name="Freeform 12"/>
          <p:cNvSpPr/>
          <p:nvPr/>
        </p:nvSpPr>
        <p:spPr>
          <a:xfrm>
            <a:off x="-334072" y="-1475968"/>
            <a:ext cx="3808435" cy="4114800"/>
          </a:xfrm>
          <a:custGeom>
            <a:avLst/>
            <a:gdLst/>
            <a:ahLst/>
            <a:cxnLst/>
            <a:rect l="l" t="t" r="r" b="b"/>
            <a:pathLst>
              <a:path w="3808435" h="4114800">
                <a:moveTo>
                  <a:pt x="0" y="0"/>
                </a:moveTo>
                <a:lnTo>
                  <a:pt x="3808435" y="0"/>
                </a:lnTo>
                <a:lnTo>
                  <a:pt x="3808435" y="4114800"/>
                </a:lnTo>
                <a:lnTo>
                  <a:pt x="0" y="4114800"/>
                </a:lnTo>
                <a:lnTo>
                  <a:pt x="0" y="0"/>
                </a:lnTo>
                <a:close/>
              </a:path>
            </a:pathLst>
          </a:custGeom>
          <a:blipFill>
            <a:blip>
              <a:extLst>
                <a:ext uri="{96DAC541-7B7A-43D3-8B79-37D633B846F1}">
                  <asvg:svgBlip xmlns:asvg="http://schemas.microsoft.com/office/drawing/2016/SVG/main" r:embed="rId3"/>
                </a:ext>
              </a:extLst>
            </a:blip>
            <a:stretch>
              <a:fillRect/>
            </a:stretch>
          </a:blipFill>
        </p:spPr>
      </p:sp>
      <p:sp>
        <p:nvSpPr>
          <p:cNvPr id="13" name="TextBox 13"/>
          <p:cNvSpPr txBox="1"/>
          <p:nvPr/>
        </p:nvSpPr>
        <p:spPr>
          <a:xfrm>
            <a:off x="6626990" y="4857115"/>
            <a:ext cx="5561321" cy="438785"/>
          </a:xfrm>
          <a:prstGeom prst="rect">
            <a:avLst/>
          </a:prstGeom>
        </p:spPr>
        <p:txBody>
          <a:bodyPr lIns="0" tIns="0" rIns="0" bIns="0" rtlCol="0" anchor="t">
            <a:spAutoFit/>
          </a:bodyPr>
          <a:lstStyle/>
          <a:p>
            <a:pPr algn="ctr">
              <a:lnSpc>
                <a:spcPts val="3639"/>
              </a:lnSpc>
            </a:pPr>
            <a:r>
              <a:rPr lang="en-US" sz="2599" b="1">
                <a:solidFill>
                  <a:srgbClr val="337271"/>
                </a:solidFill>
                <a:latin typeface="Nunito Bold"/>
                <a:ea typeface="Nunito Bold"/>
                <a:cs typeface="Nunito Bold"/>
                <a:sym typeface="Nunito Bold"/>
              </a:rPr>
              <a:t> Data Transformation – Silver Layer</a:t>
            </a:r>
          </a:p>
        </p:txBody>
      </p:sp>
      <p:sp>
        <p:nvSpPr>
          <p:cNvPr id="14" name="TextBox 14"/>
          <p:cNvSpPr txBox="1"/>
          <p:nvPr/>
        </p:nvSpPr>
        <p:spPr>
          <a:xfrm>
            <a:off x="9144000" y="5673637"/>
            <a:ext cx="5842043" cy="2724785"/>
          </a:xfrm>
          <a:prstGeom prst="rect">
            <a:avLst/>
          </a:prstGeom>
        </p:spPr>
        <p:txBody>
          <a:bodyPr lIns="0" tIns="0" rIns="0" bIns="0" rtlCol="0" anchor="t">
            <a:spAutoFit/>
          </a:bodyPr>
          <a:lstStyle/>
          <a:p>
            <a:pPr marL="561339" lvl="1" indent="-280669" algn="l">
              <a:lnSpc>
                <a:spcPts val="3639"/>
              </a:lnSpc>
              <a:buFont typeface="Arial"/>
              <a:buChar char="•"/>
            </a:pPr>
            <a:r>
              <a:rPr lang="en-US" sz="2599">
                <a:solidFill>
                  <a:srgbClr val="337271"/>
                </a:solidFill>
                <a:latin typeface="Nunito"/>
                <a:ea typeface="Nunito"/>
                <a:cs typeface="Nunito"/>
                <a:sym typeface="Nunito"/>
              </a:rPr>
              <a:t>Use PySpark for:</a:t>
            </a:r>
          </a:p>
          <a:p>
            <a:pPr marL="1122678" lvl="2" indent="-374226" algn="l">
              <a:lnSpc>
                <a:spcPts val="3639"/>
              </a:lnSpc>
              <a:buFont typeface="Arial"/>
              <a:buChar char="⚬"/>
            </a:pPr>
            <a:r>
              <a:rPr lang="en-US" sz="2599">
                <a:solidFill>
                  <a:srgbClr val="337271"/>
                </a:solidFill>
                <a:latin typeface="Nunito"/>
                <a:ea typeface="Nunito"/>
                <a:cs typeface="Nunito"/>
                <a:sym typeface="Nunito"/>
              </a:rPr>
              <a:t>Data cleaning</a:t>
            </a:r>
          </a:p>
          <a:p>
            <a:pPr marL="1122678" lvl="2" indent="-374226" algn="l">
              <a:lnSpc>
                <a:spcPts val="3639"/>
              </a:lnSpc>
              <a:buFont typeface="Arial"/>
              <a:buChar char="⚬"/>
            </a:pPr>
            <a:r>
              <a:rPr lang="en-US" sz="2599">
                <a:solidFill>
                  <a:srgbClr val="337271"/>
                </a:solidFill>
                <a:latin typeface="Nunito"/>
                <a:ea typeface="Nunito"/>
                <a:cs typeface="Nunito"/>
                <a:sym typeface="Nunito"/>
              </a:rPr>
              <a:t>Schema correction</a:t>
            </a:r>
          </a:p>
          <a:p>
            <a:pPr marL="1122678" lvl="2" indent="-374226" algn="l">
              <a:lnSpc>
                <a:spcPts val="3639"/>
              </a:lnSpc>
              <a:buFont typeface="Arial"/>
              <a:buChar char="⚬"/>
            </a:pPr>
            <a:r>
              <a:rPr lang="en-US" sz="2599">
                <a:solidFill>
                  <a:srgbClr val="337271"/>
                </a:solidFill>
                <a:latin typeface="Nunito"/>
                <a:ea typeface="Nunito"/>
                <a:cs typeface="Nunito"/>
                <a:sym typeface="Nunito"/>
              </a:rPr>
              <a:t>Filtering &amp; aggregation</a:t>
            </a:r>
          </a:p>
          <a:p>
            <a:pPr marL="561339" lvl="1" indent="-280669" algn="l">
              <a:lnSpc>
                <a:spcPts val="3639"/>
              </a:lnSpc>
              <a:buFont typeface="Arial"/>
              <a:buChar char="•"/>
            </a:pPr>
            <a:r>
              <a:rPr lang="en-US" sz="2599">
                <a:solidFill>
                  <a:srgbClr val="337271"/>
                </a:solidFill>
                <a:latin typeface="Nunito"/>
                <a:ea typeface="Nunito"/>
                <a:cs typeface="Nunito"/>
                <a:sym typeface="Nunito"/>
              </a:rPr>
              <a:t>Store processed data back in ADLS</a:t>
            </a:r>
          </a:p>
          <a:p>
            <a:pPr algn="ctr">
              <a:lnSpc>
                <a:spcPts val="3639"/>
              </a:lnSpc>
            </a:pPr>
            <a:endParaRPr lang="en-US" sz="2599">
              <a:solidFill>
                <a:srgbClr val="337271"/>
              </a:solidFill>
              <a:latin typeface="Nunito"/>
              <a:ea typeface="Nunito"/>
              <a:cs typeface="Nunito"/>
              <a:sym typeface="Nunito"/>
            </a:endParaRPr>
          </a:p>
        </p:txBody>
      </p:sp>
      <p:sp>
        <p:nvSpPr>
          <p:cNvPr id="15" name="TextBox 15"/>
          <p:cNvSpPr txBox="1"/>
          <p:nvPr/>
        </p:nvSpPr>
        <p:spPr>
          <a:xfrm>
            <a:off x="2638961" y="7536469"/>
            <a:ext cx="6633361" cy="438785"/>
          </a:xfrm>
          <a:prstGeom prst="rect">
            <a:avLst/>
          </a:prstGeom>
        </p:spPr>
        <p:txBody>
          <a:bodyPr lIns="0" tIns="0" rIns="0" bIns="0" rtlCol="0" anchor="t">
            <a:spAutoFit/>
          </a:bodyPr>
          <a:lstStyle/>
          <a:p>
            <a:pPr algn="ctr">
              <a:lnSpc>
                <a:spcPts val="3639"/>
              </a:lnSpc>
            </a:pPr>
            <a:r>
              <a:rPr lang="en-US" sz="2599" b="1">
                <a:solidFill>
                  <a:srgbClr val="337271"/>
                </a:solidFill>
                <a:latin typeface="Nunito Bold"/>
                <a:ea typeface="Nunito Bold"/>
                <a:cs typeface="Nunito Bold"/>
                <a:sym typeface="Nunito Bold"/>
              </a:rPr>
              <a:t>Outcome</a:t>
            </a:r>
            <a:r>
              <a:rPr lang="en-US" sz="2599">
                <a:solidFill>
                  <a:srgbClr val="337271"/>
                </a:solidFill>
                <a:latin typeface="Nunito"/>
                <a:ea typeface="Nunito"/>
                <a:cs typeface="Nunito"/>
                <a:sym typeface="Nunito"/>
              </a:rPr>
              <a:t>: Clean, structured, optimized data.</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t="-83416" b="-83416"/>
            </a:stretch>
          </a:blipFill>
        </p:spPr>
      </p:sp>
      <p:grpSp>
        <p:nvGrpSpPr>
          <p:cNvPr id="3" name="Group 3"/>
          <p:cNvGrpSpPr/>
          <p:nvPr/>
        </p:nvGrpSpPr>
        <p:grpSpPr>
          <a:xfrm>
            <a:off x="3512678" y="3614092"/>
            <a:ext cx="1393186" cy="1125001"/>
            <a:chOff x="0" y="0"/>
            <a:chExt cx="366930" cy="296297"/>
          </a:xfrm>
        </p:grpSpPr>
        <p:sp>
          <p:nvSpPr>
            <p:cNvPr id="4" name="Freeform 4"/>
            <p:cNvSpPr/>
            <p:nvPr/>
          </p:nvSpPr>
          <p:spPr>
            <a:xfrm>
              <a:off x="0" y="0"/>
              <a:ext cx="366930" cy="296297"/>
            </a:xfrm>
            <a:custGeom>
              <a:avLst/>
              <a:gdLst/>
              <a:ahLst/>
              <a:cxnLst/>
              <a:rect l="l" t="t" r="r" b="b"/>
              <a:pathLst>
                <a:path w="366930" h="296297">
                  <a:moveTo>
                    <a:pt x="0" y="0"/>
                  </a:moveTo>
                  <a:lnTo>
                    <a:pt x="366930" y="0"/>
                  </a:lnTo>
                  <a:lnTo>
                    <a:pt x="366930" y="296297"/>
                  </a:lnTo>
                  <a:lnTo>
                    <a:pt x="0" y="296297"/>
                  </a:lnTo>
                  <a:close/>
                </a:path>
              </a:pathLst>
            </a:custGeom>
            <a:solidFill>
              <a:srgbClr val="337271"/>
            </a:solidFill>
            <a:ln cap="sq">
              <a:noFill/>
              <a:prstDash val="solid"/>
              <a:miter/>
            </a:ln>
          </p:spPr>
        </p:sp>
        <p:sp>
          <p:nvSpPr>
            <p:cNvPr id="5" name="TextBox 5"/>
            <p:cNvSpPr txBox="1"/>
            <p:nvPr/>
          </p:nvSpPr>
          <p:spPr>
            <a:xfrm>
              <a:off x="0" y="-38100"/>
              <a:ext cx="366930" cy="334397"/>
            </a:xfrm>
            <a:prstGeom prst="rect">
              <a:avLst/>
            </a:prstGeom>
          </p:spPr>
          <p:txBody>
            <a:bodyPr lIns="50800" tIns="50800" rIns="50800" bIns="50800" rtlCol="0" anchor="ctr"/>
            <a:lstStyle/>
            <a:p>
              <a:pPr algn="ctr">
                <a:lnSpc>
                  <a:spcPts val="2659"/>
                </a:lnSpc>
                <a:spcBef>
                  <a:spcPct val="0"/>
                </a:spcBef>
              </a:pPr>
              <a:endParaRPr/>
            </a:p>
          </p:txBody>
        </p:sp>
      </p:grpSp>
      <p:grpSp>
        <p:nvGrpSpPr>
          <p:cNvPr id="6" name="Group 6"/>
          <p:cNvGrpSpPr/>
          <p:nvPr/>
        </p:nvGrpSpPr>
        <p:grpSpPr>
          <a:xfrm>
            <a:off x="2046771" y="4461140"/>
            <a:ext cx="13778041" cy="4118257"/>
            <a:chOff x="0" y="0"/>
            <a:chExt cx="3628785" cy="1084644"/>
          </a:xfrm>
        </p:grpSpPr>
        <p:sp>
          <p:nvSpPr>
            <p:cNvPr id="7" name="Freeform 7"/>
            <p:cNvSpPr/>
            <p:nvPr/>
          </p:nvSpPr>
          <p:spPr>
            <a:xfrm>
              <a:off x="0" y="0"/>
              <a:ext cx="3628785" cy="1084644"/>
            </a:xfrm>
            <a:custGeom>
              <a:avLst/>
              <a:gdLst/>
              <a:ahLst/>
              <a:cxnLst/>
              <a:rect l="l" t="t" r="r" b="b"/>
              <a:pathLst>
                <a:path w="3628785" h="1084644">
                  <a:moveTo>
                    <a:pt x="56190" y="0"/>
                  </a:moveTo>
                  <a:lnTo>
                    <a:pt x="3572594" y="0"/>
                  </a:lnTo>
                  <a:cubicBezTo>
                    <a:pt x="3603627" y="0"/>
                    <a:pt x="3628785" y="25157"/>
                    <a:pt x="3628785" y="56190"/>
                  </a:cubicBezTo>
                  <a:lnTo>
                    <a:pt x="3628785" y="1028454"/>
                  </a:lnTo>
                  <a:cubicBezTo>
                    <a:pt x="3628785" y="1043356"/>
                    <a:pt x="3622865" y="1057648"/>
                    <a:pt x="3612327" y="1068186"/>
                  </a:cubicBezTo>
                  <a:cubicBezTo>
                    <a:pt x="3601789" y="1078724"/>
                    <a:pt x="3587497" y="1084644"/>
                    <a:pt x="3572594" y="1084644"/>
                  </a:cubicBezTo>
                  <a:lnTo>
                    <a:pt x="56190" y="1084644"/>
                  </a:lnTo>
                  <a:cubicBezTo>
                    <a:pt x="25157" y="1084644"/>
                    <a:pt x="0" y="1059487"/>
                    <a:pt x="0" y="1028454"/>
                  </a:cubicBezTo>
                  <a:lnTo>
                    <a:pt x="0" y="56190"/>
                  </a:lnTo>
                  <a:cubicBezTo>
                    <a:pt x="0" y="25157"/>
                    <a:pt x="25157" y="0"/>
                    <a:pt x="56190" y="0"/>
                  </a:cubicBezTo>
                  <a:close/>
                </a:path>
              </a:pathLst>
            </a:custGeom>
            <a:ln w="47625" cap="rnd">
              <a:solidFill>
                <a:srgbClr val="337271"/>
              </a:solidFill>
              <a:prstDash val="lgDash"/>
              <a:round/>
            </a:ln>
          </p:spPr>
        </p:sp>
        <p:sp>
          <p:nvSpPr>
            <p:cNvPr id="8" name="TextBox 8"/>
            <p:cNvSpPr txBox="1"/>
            <p:nvPr/>
          </p:nvSpPr>
          <p:spPr>
            <a:xfrm>
              <a:off x="0" y="-38100"/>
              <a:ext cx="3628785" cy="1122744"/>
            </a:xfrm>
            <a:prstGeom prst="rect">
              <a:avLst/>
            </a:prstGeom>
          </p:spPr>
          <p:txBody>
            <a:bodyPr lIns="50800" tIns="50800" rIns="50800" bIns="50800" rtlCol="0" anchor="ctr"/>
            <a:lstStyle/>
            <a:p>
              <a:pPr algn="ctr">
                <a:lnSpc>
                  <a:spcPts val="2659"/>
                </a:lnSpc>
              </a:pPr>
              <a:endParaRPr/>
            </a:p>
          </p:txBody>
        </p:sp>
      </p:grpSp>
      <p:sp>
        <p:nvSpPr>
          <p:cNvPr id="9" name="TextBox 9"/>
          <p:cNvSpPr txBox="1"/>
          <p:nvPr/>
        </p:nvSpPr>
        <p:spPr>
          <a:xfrm>
            <a:off x="4796206" y="800509"/>
            <a:ext cx="8695587" cy="1628773"/>
          </a:xfrm>
          <a:prstGeom prst="rect">
            <a:avLst/>
          </a:prstGeom>
        </p:spPr>
        <p:txBody>
          <a:bodyPr lIns="0" tIns="0" rIns="0" bIns="0" rtlCol="0" anchor="t">
            <a:spAutoFit/>
          </a:bodyPr>
          <a:lstStyle/>
          <a:p>
            <a:pPr algn="ctr">
              <a:lnSpc>
                <a:spcPts val="12600"/>
              </a:lnSpc>
            </a:pPr>
            <a:r>
              <a:rPr lang="en-US" sz="9000">
                <a:solidFill>
                  <a:srgbClr val="337271"/>
                </a:solidFill>
                <a:latin typeface="AC Diary Girl"/>
                <a:ea typeface="AC Diary Girl"/>
                <a:cs typeface="AC Diary Girl"/>
                <a:sym typeface="AC Diary Girl"/>
              </a:rPr>
              <a:t>Process</a:t>
            </a:r>
          </a:p>
        </p:txBody>
      </p:sp>
      <p:sp>
        <p:nvSpPr>
          <p:cNvPr id="10" name="TextBox 10"/>
          <p:cNvSpPr txBox="1"/>
          <p:nvPr/>
        </p:nvSpPr>
        <p:spPr>
          <a:xfrm>
            <a:off x="3138223" y="5945159"/>
            <a:ext cx="5542625" cy="2267585"/>
          </a:xfrm>
          <a:prstGeom prst="rect">
            <a:avLst/>
          </a:prstGeom>
        </p:spPr>
        <p:txBody>
          <a:bodyPr lIns="0" tIns="0" rIns="0" bIns="0" rtlCol="0" anchor="t">
            <a:spAutoFit/>
          </a:bodyPr>
          <a:lstStyle/>
          <a:p>
            <a:pPr marL="561339" lvl="1" indent="-280669" algn="l">
              <a:lnSpc>
                <a:spcPts val="3639"/>
              </a:lnSpc>
              <a:buFont typeface="Arial"/>
              <a:buChar char="•"/>
            </a:pPr>
            <a:r>
              <a:rPr lang="en-US" sz="2599">
                <a:solidFill>
                  <a:srgbClr val="337271"/>
                </a:solidFill>
                <a:latin typeface="Nunito"/>
                <a:ea typeface="Nunito"/>
                <a:cs typeface="Nunito"/>
                <a:sym typeface="Nunito"/>
              </a:rPr>
              <a:t>Create Synapse workspace</a:t>
            </a:r>
          </a:p>
          <a:p>
            <a:pPr marL="561339" lvl="1" indent="-280669" algn="l">
              <a:lnSpc>
                <a:spcPts val="3639"/>
              </a:lnSpc>
              <a:buFont typeface="Arial"/>
              <a:buChar char="•"/>
            </a:pPr>
            <a:r>
              <a:rPr lang="en-US" sz="2599">
                <a:solidFill>
                  <a:srgbClr val="337271"/>
                </a:solidFill>
                <a:latin typeface="Nunito"/>
                <a:ea typeface="Nunito"/>
                <a:cs typeface="Nunito"/>
                <a:sym typeface="Nunito"/>
              </a:rPr>
              <a:t>Use OPENROWSET() &amp; External Tables</a:t>
            </a:r>
          </a:p>
          <a:p>
            <a:pPr algn="l">
              <a:lnSpc>
                <a:spcPts val="3639"/>
              </a:lnSpc>
            </a:pPr>
            <a:endParaRPr lang="en-US" sz="2599">
              <a:solidFill>
                <a:srgbClr val="337271"/>
              </a:solidFill>
              <a:latin typeface="Nunito"/>
              <a:ea typeface="Nunito"/>
              <a:cs typeface="Nunito"/>
              <a:sym typeface="Nunito"/>
            </a:endParaRPr>
          </a:p>
          <a:p>
            <a:pPr algn="ctr">
              <a:lnSpc>
                <a:spcPts val="3639"/>
              </a:lnSpc>
            </a:pPr>
            <a:endParaRPr lang="en-US" sz="2599">
              <a:solidFill>
                <a:srgbClr val="337271"/>
              </a:solidFill>
              <a:latin typeface="Nunito"/>
              <a:ea typeface="Nunito"/>
              <a:cs typeface="Nunito"/>
              <a:sym typeface="Nunito"/>
            </a:endParaRPr>
          </a:p>
        </p:txBody>
      </p:sp>
      <p:sp>
        <p:nvSpPr>
          <p:cNvPr id="11" name="TextBox 11"/>
          <p:cNvSpPr txBox="1"/>
          <p:nvPr/>
        </p:nvSpPr>
        <p:spPr>
          <a:xfrm>
            <a:off x="3663257" y="3654305"/>
            <a:ext cx="1092028" cy="901700"/>
          </a:xfrm>
          <a:prstGeom prst="rect">
            <a:avLst/>
          </a:prstGeom>
        </p:spPr>
        <p:txBody>
          <a:bodyPr lIns="0" tIns="0" rIns="0" bIns="0" rtlCol="0" anchor="t">
            <a:spAutoFit/>
          </a:bodyPr>
          <a:lstStyle/>
          <a:p>
            <a:pPr algn="ctr">
              <a:lnSpc>
                <a:spcPts val="7000"/>
              </a:lnSpc>
            </a:pPr>
            <a:r>
              <a:rPr lang="en-US" sz="5000">
                <a:solidFill>
                  <a:srgbClr val="FFFFFF"/>
                </a:solidFill>
                <a:latin typeface="AC Diary Girl"/>
                <a:ea typeface="AC Diary Girl"/>
                <a:cs typeface="AC Diary Girl"/>
                <a:sym typeface="AC Diary Girl"/>
              </a:rPr>
              <a:t>3</a:t>
            </a:r>
          </a:p>
        </p:txBody>
      </p:sp>
      <p:sp>
        <p:nvSpPr>
          <p:cNvPr id="12" name="Freeform 12"/>
          <p:cNvSpPr/>
          <p:nvPr/>
        </p:nvSpPr>
        <p:spPr>
          <a:xfrm>
            <a:off x="-334072" y="-1475968"/>
            <a:ext cx="3808435" cy="4114800"/>
          </a:xfrm>
          <a:custGeom>
            <a:avLst/>
            <a:gdLst/>
            <a:ahLst/>
            <a:cxnLst/>
            <a:rect l="l" t="t" r="r" b="b"/>
            <a:pathLst>
              <a:path w="3808435" h="4114800">
                <a:moveTo>
                  <a:pt x="0" y="0"/>
                </a:moveTo>
                <a:lnTo>
                  <a:pt x="3808435" y="0"/>
                </a:lnTo>
                <a:lnTo>
                  <a:pt x="3808435" y="4114800"/>
                </a:lnTo>
                <a:lnTo>
                  <a:pt x="0" y="4114800"/>
                </a:lnTo>
                <a:lnTo>
                  <a:pt x="0" y="0"/>
                </a:lnTo>
                <a:close/>
              </a:path>
            </a:pathLst>
          </a:custGeom>
          <a:blipFill>
            <a:blip>
              <a:extLst>
                <a:ext uri="{96DAC541-7B7A-43D3-8B79-37D633B846F1}">
                  <asvg:svgBlip xmlns:asvg="http://schemas.microsoft.com/office/drawing/2016/SVG/main" r:embed="rId3"/>
                </a:ext>
              </a:extLst>
            </a:blip>
            <a:stretch>
              <a:fillRect/>
            </a:stretch>
          </a:blipFill>
        </p:spPr>
      </p:sp>
      <p:sp>
        <p:nvSpPr>
          <p:cNvPr id="13" name="TextBox 13"/>
          <p:cNvSpPr txBox="1"/>
          <p:nvPr/>
        </p:nvSpPr>
        <p:spPr>
          <a:xfrm>
            <a:off x="5405242" y="4849208"/>
            <a:ext cx="7061100" cy="438785"/>
          </a:xfrm>
          <a:prstGeom prst="rect">
            <a:avLst/>
          </a:prstGeom>
        </p:spPr>
        <p:txBody>
          <a:bodyPr lIns="0" tIns="0" rIns="0" bIns="0" rtlCol="0" anchor="t">
            <a:spAutoFit/>
          </a:bodyPr>
          <a:lstStyle/>
          <a:p>
            <a:pPr algn="ctr">
              <a:lnSpc>
                <a:spcPts val="3639"/>
              </a:lnSpc>
            </a:pPr>
            <a:r>
              <a:rPr lang="en-US" sz="2599" b="1">
                <a:solidFill>
                  <a:srgbClr val="337271"/>
                </a:solidFill>
                <a:latin typeface="Nunito Bold"/>
                <a:ea typeface="Nunito Bold"/>
                <a:cs typeface="Nunito Bold"/>
                <a:sym typeface="Nunito Bold"/>
              </a:rPr>
              <a:t> Data Warehousing &amp; Analytics – Gold Layer</a:t>
            </a:r>
          </a:p>
        </p:txBody>
      </p:sp>
      <p:sp>
        <p:nvSpPr>
          <p:cNvPr id="14" name="TextBox 14"/>
          <p:cNvSpPr txBox="1"/>
          <p:nvPr/>
        </p:nvSpPr>
        <p:spPr>
          <a:xfrm>
            <a:off x="9144000" y="5945159"/>
            <a:ext cx="5842043" cy="1810385"/>
          </a:xfrm>
          <a:prstGeom prst="rect">
            <a:avLst/>
          </a:prstGeom>
        </p:spPr>
        <p:txBody>
          <a:bodyPr lIns="0" tIns="0" rIns="0" bIns="0" rtlCol="0" anchor="t">
            <a:spAutoFit/>
          </a:bodyPr>
          <a:lstStyle/>
          <a:p>
            <a:pPr marL="561339" lvl="1" indent="-280669" algn="l">
              <a:lnSpc>
                <a:spcPts val="3639"/>
              </a:lnSpc>
              <a:buFont typeface="Arial"/>
              <a:buChar char="•"/>
            </a:pPr>
            <a:r>
              <a:rPr lang="en-US" sz="2599">
                <a:solidFill>
                  <a:srgbClr val="337271"/>
                </a:solidFill>
                <a:latin typeface="Nunito"/>
                <a:ea typeface="Nunito"/>
                <a:cs typeface="Nunito"/>
                <a:sym typeface="Nunito"/>
              </a:rPr>
              <a:t>Load structured data</a:t>
            </a:r>
          </a:p>
          <a:p>
            <a:pPr marL="561339" lvl="1" indent="-280669" algn="l">
              <a:lnSpc>
                <a:spcPts val="3639"/>
              </a:lnSpc>
              <a:buFont typeface="Arial"/>
              <a:buChar char="•"/>
            </a:pPr>
            <a:r>
              <a:rPr lang="en-US" sz="2599">
                <a:solidFill>
                  <a:srgbClr val="337271"/>
                </a:solidFill>
                <a:latin typeface="Nunito"/>
                <a:ea typeface="Nunito"/>
                <a:cs typeface="Nunito"/>
                <a:sym typeface="Nunito"/>
              </a:rPr>
              <a:t>Perform analytical SQL queries</a:t>
            </a:r>
          </a:p>
          <a:p>
            <a:pPr marL="561339" lvl="1" indent="-280669" algn="l">
              <a:lnSpc>
                <a:spcPts val="3639"/>
              </a:lnSpc>
              <a:buFont typeface="Arial"/>
              <a:buChar char="•"/>
            </a:pPr>
            <a:r>
              <a:rPr lang="en-US" sz="2599">
                <a:solidFill>
                  <a:srgbClr val="337271"/>
                </a:solidFill>
                <a:latin typeface="Nunito"/>
                <a:ea typeface="Nunito"/>
                <a:cs typeface="Nunito"/>
                <a:sym typeface="Nunito"/>
              </a:rPr>
              <a:t>Integrate with Power BI</a:t>
            </a:r>
          </a:p>
          <a:p>
            <a:pPr algn="ctr">
              <a:lnSpc>
                <a:spcPts val="3639"/>
              </a:lnSpc>
            </a:pPr>
            <a:endParaRPr lang="en-US" sz="2599">
              <a:solidFill>
                <a:srgbClr val="337271"/>
              </a:solidFill>
              <a:latin typeface="Nunito"/>
              <a:ea typeface="Nunito"/>
              <a:cs typeface="Nunito"/>
              <a:sym typeface="Nunito"/>
            </a:endParaRPr>
          </a:p>
        </p:txBody>
      </p:sp>
      <p:sp>
        <p:nvSpPr>
          <p:cNvPr id="15" name="TextBox 15"/>
          <p:cNvSpPr txBox="1"/>
          <p:nvPr/>
        </p:nvSpPr>
        <p:spPr>
          <a:xfrm>
            <a:off x="5692797" y="7707919"/>
            <a:ext cx="6783069" cy="438785"/>
          </a:xfrm>
          <a:prstGeom prst="rect">
            <a:avLst/>
          </a:prstGeom>
        </p:spPr>
        <p:txBody>
          <a:bodyPr lIns="0" tIns="0" rIns="0" bIns="0" rtlCol="0" anchor="t">
            <a:spAutoFit/>
          </a:bodyPr>
          <a:lstStyle/>
          <a:p>
            <a:pPr algn="ctr">
              <a:lnSpc>
                <a:spcPts val="3639"/>
              </a:lnSpc>
            </a:pPr>
            <a:r>
              <a:rPr lang="en-US" sz="2599" b="1">
                <a:solidFill>
                  <a:srgbClr val="337271"/>
                </a:solidFill>
                <a:latin typeface="Nunito Bold"/>
                <a:ea typeface="Nunito Bold"/>
                <a:cs typeface="Nunito Bold"/>
                <a:sym typeface="Nunito Bold"/>
              </a:rPr>
              <a:t>Outcome</a:t>
            </a:r>
            <a:r>
              <a:rPr lang="en-US" sz="2599">
                <a:solidFill>
                  <a:srgbClr val="337271"/>
                </a:solidFill>
                <a:latin typeface="Nunito"/>
                <a:ea typeface="Nunito"/>
                <a:cs typeface="Nunito"/>
                <a:sym typeface="Nunito"/>
              </a:rPr>
              <a:t>:  Business-ready analytics dataset.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t="-83416" b="-83416"/>
            </a:stretch>
          </a:blipFill>
        </p:spPr>
      </p:sp>
      <p:sp>
        <p:nvSpPr>
          <p:cNvPr id="3" name="Freeform 3"/>
          <p:cNvSpPr/>
          <p:nvPr/>
        </p:nvSpPr>
        <p:spPr>
          <a:xfrm>
            <a:off x="-2099932" y="-1172339"/>
            <a:ext cx="6257264" cy="3629213"/>
          </a:xfrm>
          <a:custGeom>
            <a:avLst/>
            <a:gdLst/>
            <a:ahLst/>
            <a:cxnLst/>
            <a:rect l="l" t="t" r="r" b="b"/>
            <a:pathLst>
              <a:path w="6257264" h="3629213">
                <a:moveTo>
                  <a:pt x="0" y="0"/>
                </a:moveTo>
                <a:lnTo>
                  <a:pt x="6257264" y="0"/>
                </a:lnTo>
                <a:lnTo>
                  <a:pt x="6257264" y="3629214"/>
                </a:lnTo>
                <a:lnTo>
                  <a:pt x="0" y="3629214"/>
                </a:lnTo>
                <a:lnTo>
                  <a:pt x="0" y="0"/>
                </a:lnTo>
                <a:close/>
              </a:path>
            </a:pathLst>
          </a:custGeom>
          <a:blipFill>
            <a:blip>
              <a:extLst>
                <a:ext uri="{96DAC541-7B7A-43D3-8B79-37D633B846F1}">
                  <asvg:svgBlip xmlns:asvg="http://schemas.microsoft.com/office/drawing/2016/SVG/main" r:embed="rId3"/>
                </a:ext>
              </a:extLst>
            </a:blip>
            <a:stretch>
              <a:fillRect/>
            </a:stretch>
          </a:blipFill>
        </p:spPr>
      </p:sp>
      <p:sp>
        <p:nvSpPr>
          <p:cNvPr id="4" name="Freeform 4"/>
          <p:cNvSpPr/>
          <p:nvPr/>
        </p:nvSpPr>
        <p:spPr>
          <a:xfrm>
            <a:off x="10532791" y="3939083"/>
            <a:ext cx="6490010" cy="4841754"/>
          </a:xfrm>
          <a:custGeom>
            <a:avLst/>
            <a:gdLst/>
            <a:ahLst/>
            <a:cxnLst/>
            <a:rect l="l" t="t" r="r" b="b"/>
            <a:pathLst>
              <a:path w="6490010" h="4841754">
                <a:moveTo>
                  <a:pt x="0" y="0"/>
                </a:moveTo>
                <a:lnTo>
                  <a:pt x="6490010" y="0"/>
                </a:lnTo>
                <a:lnTo>
                  <a:pt x="6490010" y="4841754"/>
                </a:lnTo>
                <a:lnTo>
                  <a:pt x="0" y="4841754"/>
                </a:lnTo>
                <a:lnTo>
                  <a:pt x="0" y="0"/>
                </a:lnTo>
                <a:close/>
              </a:path>
            </a:pathLst>
          </a:custGeom>
          <a:blipFill>
            <a:blip r:embed="rId4"/>
            <a:stretch>
              <a:fillRect/>
            </a:stretch>
          </a:blipFill>
        </p:spPr>
      </p:sp>
      <p:sp>
        <p:nvSpPr>
          <p:cNvPr id="5" name="Freeform 5"/>
          <p:cNvSpPr/>
          <p:nvPr/>
        </p:nvSpPr>
        <p:spPr>
          <a:xfrm>
            <a:off x="15533991" y="6870677"/>
            <a:ext cx="2977619" cy="4114800"/>
          </a:xfrm>
          <a:custGeom>
            <a:avLst/>
            <a:gdLst/>
            <a:ahLst/>
            <a:cxnLst/>
            <a:rect l="l" t="t" r="r" b="b"/>
            <a:pathLst>
              <a:path w="2977619" h="4114800">
                <a:moveTo>
                  <a:pt x="0" y="0"/>
                </a:moveTo>
                <a:lnTo>
                  <a:pt x="2977619" y="0"/>
                </a:lnTo>
                <a:lnTo>
                  <a:pt x="2977619" y="4114800"/>
                </a:lnTo>
                <a:lnTo>
                  <a:pt x="0" y="4114800"/>
                </a:lnTo>
                <a:lnTo>
                  <a:pt x="0" y="0"/>
                </a:lnTo>
                <a:close/>
              </a:path>
            </a:pathLst>
          </a:custGeom>
          <a:blipFill>
            <a:blip>
              <a:extLst>
                <a:ext uri="{96DAC541-7B7A-43D3-8B79-37D633B846F1}">
                  <asvg:svgBlip xmlns:asvg="http://schemas.microsoft.com/office/drawing/2016/SVG/main" r:embed="rId5"/>
                </a:ext>
              </a:extLst>
            </a:blip>
            <a:stretch>
              <a:fillRect/>
            </a:stretch>
          </a:blipFill>
        </p:spPr>
      </p:sp>
      <p:sp>
        <p:nvSpPr>
          <p:cNvPr id="6" name="TextBox 6"/>
          <p:cNvSpPr txBox="1"/>
          <p:nvPr/>
        </p:nvSpPr>
        <p:spPr>
          <a:xfrm>
            <a:off x="6654090" y="1630129"/>
            <a:ext cx="4979821" cy="1628773"/>
          </a:xfrm>
          <a:prstGeom prst="rect">
            <a:avLst/>
          </a:prstGeom>
        </p:spPr>
        <p:txBody>
          <a:bodyPr lIns="0" tIns="0" rIns="0" bIns="0" rtlCol="0" anchor="t">
            <a:spAutoFit/>
          </a:bodyPr>
          <a:lstStyle/>
          <a:p>
            <a:pPr algn="ctr">
              <a:lnSpc>
                <a:spcPts val="12600"/>
              </a:lnSpc>
            </a:pPr>
            <a:r>
              <a:rPr lang="en-US" sz="9000">
                <a:solidFill>
                  <a:srgbClr val="337271"/>
                </a:solidFill>
                <a:latin typeface="AC Diary Girl"/>
                <a:ea typeface="AC Diary Girl"/>
                <a:cs typeface="AC Diary Girl"/>
                <a:sym typeface="AC Diary Girl"/>
              </a:rPr>
              <a:t>Result</a:t>
            </a:r>
          </a:p>
        </p:txBody>
      </p:sp>
      <p:sp>
        <p:nvSpPr>
          <p:cNvPr id="7" name="TextBox 7"/>
          <p:cNvSpPr txBox="1"/>
          <p:nvPr/>
        </p:nvSpPr>
        <p:spPr>
          <a:xfrm>
            <a:off x="2080967" y="4184627"/>
            <a:ext cx="8059222" cy="5314950"/>
          </a:xfrm>
          <a:prstGeom prst="rect">
            <a:avLst/>
          </a:prstGeom>
        </p:spPr>
        <p:txBody>
          <a:bodyPr lIns="0" tIns="0" rIns="0" bIns="0" rtlCol="0" anchor="t">
            <a:spAutoFit/>
          </a:bodyPr>
          <a:lstStyle/>
          <a:p>
            <a:pPr marL="647700" lvl="1" indent="-323850" algn="l">
              <a:lnSpc>
                <a:spcPts val="4200"/>
              </a:lnSpc>
              <a:buFont typeface="Arial"/>
              <a:buChar char="•"/>
            </a:pPr>
            <a:r>
              <a:rPr lang="en-US" sz="3000">
                <a:solidFill>
                  <a:srgbClr val="337271"/>
                </a:solidFill>
                <a:latin typeface="Nunito"/>
                <a:ea typeface="Nunito"/>
                <a:cs typeface="Nunito"/>
                <a:sym typeface="Nunito"/>
              </a:rPr>
              <a:t>Successfully built an End-to-End Azure Data Pipeline.</a:t>
            </a:r>
          </a:p>
          <a:p>
            <a:pPr marL="647700" lvl="1" indent="-323850" algn="l">
              <a:lnSpc>
                <a:spcPts val="4200"/>
              </a:lnSpc>
              <a:buFont typeface="Arial"/>
              <a:buChar char="•"/>
            </a:pPr>
            <a:r>
              <a:rPr lang="en-US" sz="3000">
                <a:solidFill>
                  <a:srgbClr val="337271"/>
                </a:solidFill>
                <a:latin typeface="Nunito"/>
                <a:ea typeface="Nunito"/>
                <a:cs typeface="Nunito"/>
                <a:sym typeface="Nunito"/>
              </a:rPr>
              <a:t>Automated ingestion and transformation process.</a:t>
            </a:r>
          </a:p>
          <a:p>
            <a:pPr marL="647700" lvl="1" indent="-323850" algn="l">
              <a:lnSpc>
                <a:spcPts val="4200"/>
              </a:lnSpc>
              <a:buFont typeface="Arial"/>
              <a:buChar char="•"/>
            </a:pPr>
            <a:r>
              <a:rPr lang="en-US" sz="3000">
                <a:solidFill>
                  <a:srgbClr val="337271"/>
                </a:solidFill>
                <a:latin typeface="Nunito"/>
                <a:ea typeface="Nunito"/>
                <a:cs typeface="Nunito"/>
                <a:sym typeface="Nunito"/>
              </a:rPr>
              <a:t>Implemented scalable Medallion Architecture.</a:t>
            </a:r>
          </a:p>
          <a:p>
            <a:pPr marL="647700" lvl="1" indent="-323850" algn="l">
              <a:lnSpc>
                <a:spcPts val="4200"/>
              </a:lnSpc>
              <a:buFont typeface="Arial"/>
              <a:buChar char="•"/>
            </a:pPr>
            <a:r>
              <a:rPr lang="en-US" sz="3000">
                <a:solidFill>
                  <a:srgbClr val="337271"/>
                </a:solidFill>
                <a:latin typeface="Nunito"/>
                <a:ea typeface="Nunito"/>
                <a:cs typeface="Nunito"/>
                <a:sym typeface="Nunito"/>
              </a:rPr>
              <a:t>Enabled SQL-based analytics and dashboard integration.</a:t>
            </a:r>
          </a:p>
          <a:p>
            <a:pPr marL="647700" lvl="1" indent="-323850" algn="l">
              <a:lnSpc>
                <a:spcPts val="4200"/>
              </a:lnSpc>
              <a:buFont typeface="Arial"/>
              <a:buChar char="•"/>
            </a:pPr>
            <a:r>
              <a:rPr lang="en-US" sz="3000">
                <a:solidFill>
                  <a:srgbClr val="337271"/>
                </a:solidFill>
                <a:latin typeface="Nunito"/>
                <a:ea typeface="Nunito"/>
                <a:cs typeface="Nunito"/>
                <a:sym typeface="Nunito"/>
              </a:rPr>
              <a:t>Demonstrated real-world data engineering workflow.</a:t>
            </a:r>
          </a:p>
        </p:txBody>
      </p:sp>
      <p:sp>
        <p:nvSpPr>
          <p:cNvPr id="8" name="TextBox 8"/>
          <p:cNvSpPr txBox="1"/>
          <p:nvPr/>
        </p:nvSpPr>
        <p:spPr>
          <a:xfrm>
            <a:off x="11081216" y="2487378"/>
            <a:ext cx="1855495" cy="526054"/>
          </a:xfrm>
          <a:prstGeom prst="rect">
            <a:avLst/>
          </a:prstGeom>
        </p:spPr>
        <p:txBody>
          <a:bodyPr lIns="0" tIns="0" rIns="0" bIns="0" rtlCol="0" anchor="t">
            <a:spAutoFit/>
          </a:bodyPr>
          <a:lstStyle/>
          <a:p>
            <a:pPr algn="ctr">
              <a:lnSpc>
                <a:spcPts val="4045"/>
              </a:lnSpc>
            </a:pPr>
            <a:r>
              <a:rPr lang="en-US" sz="2889">
                <a:solidFill>
                  <a:srgbClr val="337271"/>
                </a:solidFill>
                <a:latin typeface="AC Diary Girl"/>
                <a:ea typeface="AC Diary Girl"/>
                <a:cs typeface="AC Diary Girl"/>
                <a:sym typeface="AC Diary Girl"/>
              </a:rPr>
              <a:t>Expected</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t="-83416" b="-83416"/>
            </a:stretch>
          </a:blipFill>
        </p:spPr>
      </p:sp>
      <p:sp>
        <p:nvSpPr>
          <p:cNvPr id="3" name="TextBox 3"/>
          <p:cNvSpPr txBox="1"/>
          <p:nvPr/>
        </p:nvSpPr>
        <p:spPr>
          <a:xfrm>
            <a:off x="4796206" y="2199700"/>
            <a:ext cx="8695587" cy="1628773"/>
          </a:xfrm>
          <a:prstGeom prst="rect">
            <a:avLst/>
          </a:prstGeom>
        </p:spPr>
        <p:txBody>
          <a:bodyPr lIns="0" tIns="0" rIns="0" bIns="0" rtlCol="0" anchor="t">
            <a:spAutoFit/>
          </a:bodyPr>
          <a:lstStyle/>
          <a:p>
            <a:pPr algn="ctr">
              <a:lnSpc>
                <a:spcPts val="12600"/>
              </a:lnSpc>
            </a:pPr>
            <a:r>
              <a:rPr lang="en-US" sz="9000">
                <a:solidFill>
                  <a:srgbClr val="337271"/>
                </a:solidFill>
                <a:latin typeface="AC Diary Girl"/>
                <a:ea typeface="AC Diary Girl"/>
                <a:cs typeface="AC Diary Girl"/>
                <a:sym typeface="AC Diary Girl"/>
              </a:rPr>
              <a:t>Conclusion</a:t>
            </a:r>
          </a:p>
        </p:txBody>
      </p:sp>
      <p:sp>
        <p:nvSpPr>
          <p:cNvPr id="4" name="TextBox 4"/>
          <p:cNvSpPr txBox="1"/>
          <p:nvPr/>
        </p:nvSpPr>
        <p:spPr>
          <a:xfrm>
            <a:off x="1974976" y="4115375"/>
            <a:ext cx="14338047" cy="3714750"/>
          </a:xfrm>
          <a:prstGeom prst="rect">
            <a:avLst/>
          </a:prstGeom>
        </p:spPr>
        <p:txBody>
          <a:bodyPr lIns="0" tIns="0" rIns="0" bIns="0" rtlCol="0" anchor="t">
            <a:spAutoFit/>
          </a:bodyPr>
          <a:lstStyle/>
          <a:p>
            <a:pPr algn="ctr">
              <a:lnSpc>
                <a:spcPts val="4200"/>
              </a:lnSpc>
            </a:pPr>
            <a:r>
              <a:rPr lang="en-US" sz="3000">
                <a:solidFill>
                  <a:srgbClr val="337271"/>
                </a:solidFill>
                <a:latin typeface="Nunito"/>
                <a:ea typeface="Nunito"/>
                <a:cs typeface="Nunito"/>
                <a:sym typeface="Nunito"/>
              </a:rPr>
              <a:t>This project demonstrates how modern cloud technologies can transform raw, unstructured data into actionable insights using Azure’s ecosystem. By integrating Data Factory, Data Lake, Databricks, and Synapse, the system ensures scalability, automation, and high-performance analytics.</a:t>
            </a:r>
          </a:p>
          <a:p>
            <a:pPr algn="ctr">
              <a:lnSpc>
                <a:spcPts val="4200"/>
              </a:lnSpc>
            </a:pPr>
            <a:r>
              <a:rPr lang="en-US" sz="3000">
                <a:solidFill>
                  <a:srgbClr val="337271"/>
                </a:solidFill>
                <a:latin typeface="Nunito"/>
                <a:ea typeface="Nunito"/>
                <a:cs typeface="Nunito"/>
                <a:sym typeface="Nunito"/>
              </a:rPr>
              <a:t>The solution reflects industry-standard data engineering practices and prepares the system for real-time processing, big data workloads, and enterprise-level reporting.</a:t>
            </a:r>
          </a:p>
          <a:p>
            <a:pPr algn="ctr">
              <a:lnSpc>
                <a:spcPts val="4200"/>
              </a:lnSpc>
            </a:pPr>
            <a:endParaRPr lang="en-US" sz="3000">
              <a:solidFill>
                <a:srgbClr val="337271"/>
              </a:solidFill>
              <a:latin typeface="Nunito"/>
              <a:ea typeface="Nunito"/>
              <a:cs typeface="Nunito"/>
              <a:sym typeface="Nunito"/>
            </a:endParaRPr>
          </a:p>
        </p:txBody>
      </p:sp>
      <p:sp>
        <p:nvSpPr>
          <p:cNvPr id="5" name="Freeform 5"/>
          <p:cNvSpPr/>
          <p:nvPr/>
        </p:nvSpPr>
        <p:spPr>
          <a:xfrm flipH="1">
            <a:off x="15690050" y="7739359"/>
            <a:ext cx="3551363" cy="1646945"/>
          </a:xfrm>
          <a:custGeom>
            <a:avLst/>
            <a:gdLst/>
            <a:ahLst/>
            <a:cxnLst/>
            <a:rect l="l" t="t" r="r" b="b"/>
            <a:pathLst>
              <a:path w="3551363" h="1646945">
                <a:moveTo>
                  <a:pt x="3551363" y="0"/>
                </a:moveTo>
                <a:lnTo>
                  <a:pt x="0" y="0"/>
                </a:lnTo>
                <a:lnTo>
                  <a:pt x="0" y="1646944"/>
                </a:lnTo>
                <a:lnTo>
                  <a:pt x="3551363" y="1646944"/>
                </a:lnTo>
                <a:lnTo>
                  <a:pt x="3551363" y="0"/>
                </a:lnTo>
                <a:close/>
              </a:path>
            </a:pathLst>
          </a:custGeom>
          <a:blipFill>
            <a:blip>
              <a:extLst>
                <a:ext uri="{96DAC541-7B7A-43D3-8B79-37D633B846F1}">
                  <asvg:svgBlip xmlns:asvg="http://schemas.microsoft.com/office/drawing/2016/SVG/main" r:embed="rId3"/>
                </a:ext>
              </a:extLst>
            </a:blip>
            <a:stretch>
              <a:fillRect/>
            </a:stretch>
          </a:blipFill>
        </p:spPr>
      </p:sp>
      <p:sp>
        <p:nvSpPr>
          <p:cNvPr id="6" name="Freeform 6"/>
          <p:cNvSpPr/>
          <p:nvPr/>
        </p:nvSpPr>
        <p:spPr>
          <a:xfrm>
            <a:off x="-746982" y="1028700"/>
            <a:ext cx="3551363" cy="1646945"/>
          </a:xfrm>
          <a:custGeom>
            <a:avLst/>
            <a:gdLst/>
            <a:ahLst/>
            <a:cxnLst/>
            <a:rect l="l" t="t" r="r" b="b"/>
            <a:pathLst>
              <a:path w="3551363" h="1646945">
                <a:moveTo>
                  <a:pt x="0" y="0"/>
                </a:moveTo>
                <a:lnTo>
                  <a:pt x="3551364" y="0"/>
                </a:lnTo>
                <a:lnTo>
                  <a:pt x="3551364" y="1646945"/>
                </a:lnTo>
                <a:lnTo>
                  <a:pt x="0" y="1646945"/>
                </a:lnTo>
                <a:lnTo>
                  <a:pt x="0" y="0"/>
                </a:lnTo>
                <a:close/>
              </a:path>
            </a:pathLst>
          </a:custGeom>
          <a:blipFill>
            <a:blip>
              <a:extLst>
                <a:ext uri="{96DAC541-7B7A-43D3-8B79-37D633B846F1}">
                  <asvg:svgBlip xmlns:asvg="http://schemas.microsoft.com/office/drawing/2016/SVG/main" r:embed="rId3"/>
                </a:ext>
              </a:extLst>
            </a:blip>
            <a:stretch>
              <a:fillRect/>
            </a:stretch>
          </a:blipFill>
        </p:spPr>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t="-83416" b="-83416"/>
            </a:stretch>
          </a:blipFill>
        </p:spPr>
      </p:sp>
      <p:sp>
        <p:nvSpPr>
          <p:cNvPr id="3" name="TextBox 3"/>
          <p:cNvSpPr txBox="1"/>
          <p:nvPr/>
        </p:nvSpPr>
        <p:spPr>
          <a:xfrm>
            <a:off x="6465218" y="3200400"/>
            <a:ext cx="8695587" cy="4038600"/>
          </a:xfrm>
          <a:prstGeom prst="rect">
            <a:avLst/>
          </a:prstGeom>
        </p:spPr>
        <p:txBody>
          <a:bodyPr lIns="0" tIns="0" rIns="0" bIns="0" rtlCol="0" anchor="t">
            <a:spAutoFit/>
          </a:bodyPr>
          <a:lstStyle/>
          <a:p>
            <a:pPr algn="ctr">
              <a:lnSpc>
                <a:spcPts val="15000"/>
              </a:lnSpc>
            </a:pPr>
            <a:r>
              <a:rPr lang="en-US" sz="15000">
                <a:solidFill>
                  <a:srgbClr val="337271"/>
                </a:solidFill>
                <a:latin typeface="AC Diary Girl"/>
                <a:ea typeface="AC Diary Girl"/>
                <a:cs typeface="AC Diary Girl"/>
                <a:sym typeface="AC Diary Girl"/>
              </a:rPr>
              <a:t>Thank You</a:t>
            </a:r>
          </a:p>
        </p:txBody>
      </p:sp>
      <p:sp>
        <p:nvSpPr>
          <p:cNvPr id="4" name="Freeform 4"/>
          <p:cNvSpPr/>
          <p:nvPr/>
        </p:nvSpPr>
        <p:spPr>
          <a:xfrm>
            <a:off x="-334072" y="-1475968"/>
            <a:ext cx="3808435" cy="4114800"/>
          </a:xfrm>
          <a:custGeom>
            <a:avLst/>
            <a:gdLst/>
            <a:ahLst/>
            <a:cxnLst/>
            <a:rect l="l" t="t" r="r" b="b"/>
            <a:pathLst>
              <a:path w="3808435" h="4114800">
                <a:moveTo>
                  <a:pt x="0" y="0"/>
                </a:moveTo>
                <a:lnTo>
                  <a:pt x="3808435" y="0"/>
                </a:lnTo>
                <a:lnTo>
                  <a:pt x="3808435" y="4114800"/>
                </a:lnTo>
                <a:lnTo>
                  <a:pt x="0" y="4114800"/>
                </a:lnTo>
                <a:lnTo>
                  <a:pt x="0" y="0"/>
                </a:lnTo>
                <a:close/>
              </a:path>
            </a:pathLst>
          </a:custGeom>
          <a:blipFill>
            <a:blip>
              <a:extLst>
                <a:ext uri="{96DAC541-7B7A-43D3-8B79-37D633B846F1}">
                  <asvg:svgBlip xmlns:asvg="http://schemas.microsoft.com/office/drawing/2016/SVG/main" r:embed="rId3"/>
                </a:ext>
              </a:extLst>
            </a:blip>
            <a:stretch>
              <a:fillRect/>
            </a:stretch>
          </a:blipFill>
        </p:spPr>
      </p:sp>
      <p:sp>
        <p:nvSpPr>
          <p:cNvPr id="5" name="Freeform 5"/>
          <p:cNvSpPr/>
          <p:nvPr/>
        </p:nvSpPr>
        <p:spPr>
          <a:xfrm>
            <a:off x="13062311" y="8487580"/>
            <a:ext cx="4196989" cy="770720"/>
          </a:xfrm>
          <a:custGeom>
            <a:avLst/>
            <a:gdLst/>
            <a:ahLst/>
            <a:cxnLst/>
            <a:rect l="l" t="t" r="r" b="b"/>
            <a:pathLst>
              <a:path w="4196989" h="770720">
                <a:moveTo>
                  <a:pt x="0" y="0"/>
                </a:moveTo>
                <a:lnTo>
                  <a:pt x="4196989" y="0"/>
                </a:lnTo>
                <a:lnTo>
                  <a:pt x="4196989" y="770720"/>
                </a:lnTo>
                <a:lnTo>
                  <a:pt x="0" y="770720"/>
                </a:lnTo>
                <a:lnTo>
                  <a:pt x="0" y="0"/>
                </a:lnTo>
                <a:close/>
              </a:path>
            </a:pathLst>
          </a:custGeom>
          <a:blipFill>
            <a:blip>
              <a:extLst>
                <a:ext uri="{96DAC541-7B7A-43D3-8B79-37D633B846F1}">
                  <asvg:svgBlip xmlns:asvg="http://schemas.microsoft.com/office/drawing/2016/SVG/main" r:embed="rId4"/>
                </a:ext>
              </a:extLst>
            </a:blip>
            <a:stretch>
              <a:fillRect/>
            </a:stretch>
          </a:blipFill>
        </p:spPr>
      </p:sp>
      <p:sp>
        <p:nvSpPr>
          <p:cNvPr id="6" name="Freeform 6"/>
          <p:cNvSpPr/>
          <p:nvPr/>
        </p:nvSpPr>
        <p:spPr>
          <a:xfrm rot="-118246">
            <a:off x="3423654" y="3579497"/>
            <a:ext cx="4333509" cy="3128006"/>
          </a:xfrm>
          <a:custGeom>
            <a:avLst/>
            <a:gdLst/>
            <a:ahLst/>
            <a:cxnLst/>
            <a:rect l="l" t="t" r="r" b="b"/>
            <a:pathLst>
              <a:path w="4333509" h="3128006">
                <a:moveTo>
                  <a:pt x="0" y="0"/>
                </a:moveTo>
                <a:lnTo>
                  <a:pt x="4333509" y="0"/>
                </a:lnTo>
                <a:lnTo>
                  <a:pt x="4333509" y="3128006"/>
                </a:lnTo>
                <a:lnTo>
                  <a:pt x="0" y="3128006"/>
                </a:lnTo>
                <a:lnTo>
                  <a:pt x="0" y="0"/>
                </a:lnTo>
                <a:close/>
              </a:path>
            </a:pathLst>
          </a:custGeom>
          <a:blipFill>
            <a:blip>
              <a:extLst>
                <a:ext uri="{96DAC541-7B7A-43D3-8B79-37D633B846F1}">
                  <asvg:svgBlip xmlns:asvg="http://schemas.microsoft.com/office/drawing/2016/SVG/main" r:embed="rId5"/>
                </a:ext>
              </a:extLst>
            </a:blip>
            <a:stretch>
              <a:fillRect/>
            </a:stretch>
          </a:blipFill>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8</TotalTime>
  <Words>458</Words>
  <Application>Microsoft Office PowerPoint</Application>
  <PresentationFormat>Custom</PresentationFormat>
  <Paragraphs>68</Paragraphs>
  <Slides>11</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11</vt:i4>
      </vt:variant>
    </vt:vector>
  </HeadingPairs>
  <TitlesOfParts>
    <vt:vector size="17" baseType="lpstr">
      <vt:lpstr>Nunito Bold</vt:lpstr>
      <vt:lpstr>Nunito</vt:lpstr>
      <vt:lpstr>Arial</vt:lpstr>
      <vt:lpstr>AC Diary Girl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Green and Beige Simple Project Presentation</dc:title>
  <cp:lastModifiedBy>Ashrith balgury</cp:lastModifiedBy>
  <cp:revision>3</cp:revision>
  <dcterms:created xsi:type="dcterms:W3CDTF">2006-08-16T00:00:00Z</dcterms:created>
  <dcterms:modified xsi:type="dcterms:W3CDTF">2026-04-24T06:51:17Z</dcterms:modified>
  <dc:identifier>DAHBv28O78g</dc:identifier>
</cp:coreProperties>
</file>