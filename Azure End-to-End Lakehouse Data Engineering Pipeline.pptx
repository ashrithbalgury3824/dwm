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C Diary Girl" charset="1" panose="02000603000000000000"/>
      <p:regular r:id="rId17"/>
    </p:embeddedFont>
    <p:embeddedFont>
      <p:font typeface="Nunito" charset="1" panose="00000000000000000000"/>
      <p:regular r:id="rId18"/>
    </p:embeddedFont>
    <p:embeddedFont>
      <p:font typeface="Nunito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6.pn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465442">
            <a:off x="15105791" y="2458225"/>
            <a:ext cx="2013817" cy="2206373"/>
          </a:xfrm>
          <a:custGeom>
            <a:avLst/>
            <a:gdLst/>
            <a:ahLst/>
            <a:cxnLst/>
            <a:rect r="r" b="b" t="t" l="l"/>
            <a:pathLst>
              <a:path h="2206373" w="2013817">
                <a:moveTo>
                  <a:pt x="0" y="0"/>
                </a:moveTo>
                <a:lnTo>
                  <a:pt x="2013817" y="0"/>
                </a:lnTo>
                <a:lnTo>
                  <a:pt x="2013817" y="2206373"/>
                </a:lnTo>
                <a:lnTo>
                  <a:pt x="0" y="22063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825094" y="8627655"/>
            <a:ext cx="3434206" cy="630645"/>
          </a:xfrm>
          <a:custGeom>
            <a:avLst/>
            <a:gdLst/>
            <a:ahLst/>
            <a:cxnLst/>
            <a:rect r="r" b="b" t="t" l="l"/>
            <a:pathLst>
              <a:path h="630645" w="3434206">
                <a:moveTo>
                  <a:pt x="0" y="0"/>
                </a:moveTo>
                <a:lnTo>
                  <a:pt x="3434206" y="0"/>
                </a:lnTo>
                <a:lnTo>
                  <a:pt x="3434206" y="630645"/>
                </a:lnTo>
                <a:lnTo>
                  <a:pt x="0" y="6306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537417">
            <a:off x="1699513" y="6606455"/>
            <a:ext cx="3549699" cy="2562238"/>
          </a:xfrm>
          <a:custGeom>
            <a:avLst/>
            <a:gdLst/>
            <a:ahLst/>
            <a:cxnLst/>
            <a:rect r="r" b="b" t="t" l="l"/>
            <a:pathLst>
              <a:path h="2562238" w="3549699">
                <a:moveTo>
                  <a:pt x="0" y="0"/>
                </a:moveTo>
                <a:lnTo>
                  <a:pt x="3549700" y="0"/>
                </a:lnTo>
                <a:lnTo>
                  <a:pt x="3549700" y="2562237"/>
                </a:lnTo>
                <a:lnTo>
                  <a:pt x="0" y="25622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2415272" y="3409011"/>
            <a:ext cx="12827508" cy="1957222"/>
          </a:xfrm>
          <a:prstGeom prst="rect">
            <a:avLst/>
          </a:prstGeom>
        </p:spPr>
        <p:txBody>
          <a:bodyPr anchor="t" rtlCol="false" tIns="0" lIns="0" bIns="0" rIns="0">
            <a:spAutoFit/>
          </a:bodyPr>
          <a:lstStyle/>
          <a:p>
            <a:pPr algn="ctr">
              <a:lnSpc>
                <a:spcPts val="7652"/>
              </a:lnSpc>
            </a:pPr>
            <a:r>
              <a:rPr lang="en-US" sz="5465">
                <a:solidFill>
                  <a:srgbClr val="337271"/>
                </a:solidFill>
                <a:latin typeface="AC Diary Girl"/>
                <a:ea typeface="AC Diary Girl"/>
                <a:cs typeface="AC Diary Girl"/>
                <a:sym typeface="AC Diary Girl"/>
              </a:rPr>
              <a:t>Azure End-to-End Lakehouse Data Engineering Pipeline</a:t>
            </a:r>
          </a:p>
        </p:txBody>
      </p:sp>
      <p:sp>
        <p:nvSpPr>
          <p:cNvPr name="TextBox 8" id="8"/>
          <p:cNvSpPr txBox="true"/>
          <p:nvPr/>
        </p:nvSpPr>
        <p:spPr>
          <a:xfrm rot="0">
            <a:off x="5067465" y="5676402"/>
            <a:ext cx="7523120" cy="669344"/>
          </a:xfrm>
          <a:prstGeom prst="rect">
            <a:avLst/>
          </a:prstGeom>
        </p:spPr>
        <p:txBody>
          <a:bodyPr anchor="t" rtlCol="false" tIns="0" lIns="0" bIns="0" rIns="0">
            <a:spAutoFit/>
          </a:bodyPr>
          <a:lstStyle/>
          <a:p>
            <a:pPr algn="ctr">
              <a:lnSpc>
                <a:spcPts val="5471"/>
              </a:lnSpc>
            </a:pPr>
            <a:r>
              <a:rPr lang="en-US" sz="3908">
                <a:solidFill>
                  <a:srgbClr val="337271"/>
                </a:solidFill>
                <a:latin typeface="Nunito"/>
                <a:ea typeface="Nunito"/>
                <a:cs typeface="Nunito"/>
                <a:sym typeface="Nunito"/>
              </a:rPr>
              <a:t>Cloud Based Data Analytics </a:t>
            </a:r>
          </a:p>
        </p:txBody>
      </p:sp>
      <p:sp>
        <p:nvSpPr>
          <p:cNvPr name="TextBox 9" id="9"/>
          <p:cNvSpPr txBox="true"/>
          <p:nvPr/>
        </p:nvSpPr>
        <p:spPr>
          <a:xfrm rot="0">
            <a:off x="14288737" y="7492460"/>
            <a:ext cx="2506919" cy="714028"/>
          </a:xfrm>
          <a:prstGeom prst="rect">
            <a:avLst/>
          </a:prstGeom>
        </p:spPr>
        <p:txBody>
          <a:bodyPr anchor="t" rtlCol="false" tIns="0" lIns="0" bIns="0" rIns="0">
            <a:spAutoFit/>
          </a:bodyPr>
          <a:lstStyle/>
          <a:p>
            <a:pPr algn="ctr">
              <a:lnSpc>
                <a:spcPts val="5883"/>
              </a:lnSpc>
            </a:pPr>
            <a:r>
              <a:rPr lang="en-US" sz="4202">
                <a:solidFill>
                  <a:srgbClr val="337271"/>
                </a:solidFill>
                <a:latin typeface="Nunito"/>
                <a:ea typeface="Nunito"/>
                <a:cs typeface="Nunito"/>
                <a:sym typeface="Nunito"/>
              </a:rPr>
              <a:t>Team 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1582456" y="5375268"/>
            <a:ext cx="4634336" cy="1193812"/>
            <a:chOff x="0" y="0"/>
            <a:chExt cx="1220566" cy="314420"/>
          </a:xfrm>
        </p:grpSpPr>
        <p:sp>
          <p:nvSpPr>
            <p:cNvPr name="Freeform 4" id="4"/>
            <p:cNvSpPr/>
            <p:nvPr/>
          </p:nvSpPr>
          <p:spPr>
            <a:xfrm flipH="false" flipV="false" rot="0">
              <a:off x="0" y="0"/>
              <a:ext cx="1220566" cy="314420"/>
            </a:xfrm>
            <a:custGeom>
              <a:avLst/>
              <a:gdLst/>
              <a:ahLst/>
              <a:cxnLst/>
              <a:rect r="r" b="b" t="t" l="l"/>
              <a:pathLst>
                <a:path h="314420" w="1220566">
                  <a:moveTo>
                    <a:pt x="0" y="0"/>
                  </a:moveTo>
                  <a:lnTo>
                    <a:pt x="1220566" y="0"/>
                  </a:lnTo>
                  <a:lnTo>
                    <a:pt x="1220566" y="314420"/>
                  </a:lnTo>
                  <a:lnTo>
                    <a:pt x="0" y="314420"/>
                  </a:lnTo>
                  <a:close/>
                </a:path>
              </a:pathLst>
            </a:custGeom>
            <a:solidFill>
              <a:srgbClr val="337271"/>
            </a:solidFill>
          </p:spPr>
        </p:sp>
        <p:sp>
          <p:nvSpPr>
            <p:cNvPr name="TextBox 5" id="5"/>
            <p:cNvSpPr txBox="true"/>
            <p:nvPr/>
          </p:nvSpPr>
          <p:spPr>
            <a:xfrm>
              <a:off x="0" y="-38100"/>
              <a:ext cx="1220566" cy="35252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826832" y="5375268"/>
            <a:ext cx="4634336" cy="1193812"/>
            <a:chOff x="0" y="0"/>
            <a:chExt cx="1220566" cy="314420"/>
          </a:xfrm>
        </p:grpSpPr>
        <p:sp>
          <p:nvSpPr>
            <p:cNvPr name="Freeform 7" id="7"/>
            <p:cNvSpPr/>
            <p:nvPr/>
          </p:nvSpPr>
          <p:spPr>
            <a:xfrm flipH="false" flipV="false" rot="0">
              <a:off x="0" y="0"/>
              <a:ext cx="1220566" cy="314420"/>
            </a:xfrm>
            <a:custGeom>
              <a:avLst/>
              <a:gdLst/>
              <a:ahLst/>
              <a:cxnLst/>
              <a:rect r="r" b="b" t="t" l="l"/>
              <a:pathLst>
                <a:path h="314420" w="1220566">
                  <a:moveTo>
                    <a:pt x="0" y="0"/>
                  </a:moveTo>
                  <a:lnTo>
                    <a:pt x="1220566" y="0"/>
                  </a:lnTo>
                  <a:lnTo>
                    <a:pt x="1220566" y="314420"/>
                  </a:lnTo>
                  <a:lnTo>
                    <a:pt x="0" y="314420"/>
                  </a:lnTo>
                  <a:close/>
                </a:path>
              </a:pathLst>
            </a:custGeom>
            <a:solidFill>
              <a:srgbClr val="337271"/>
            </a:solidFill>
          </p:spPr>
        </p:sp>
        <p:sp>
          <p:nvSpPr>
            <p:cNvPr name="TextBox 8" id="8"/>
            <p:cNvSpPr txBox="true"/>
            <p:nvPr/>
          </p:nvSpPr>
          <p:spPr>
            <a:xfrm>
              <a:off x="0" y="-38100"/>
              <a:ext cx="1220566" cy="35252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2071208" y="5375268"/>
            <a:ext cx="4634336" cy="1193812"/>
            <a:chOff x="0" y="0"/>
            <a:chExt cx="1220566" cy="314420"/>
          </a:xfrm>
        </p:grpSpPr>
        <p:sp>
          <p:nvSpPr>
            <p:cNvPr name="Freeform 10" id="10"/>
            <p:cNvSpPr/>
            <p:nvPr/>
          </p:nvSpPr>
          <p:spPr>
            <a:xfrm flipH="false" flipV="false" rot="0">
              <a:off x="0" y="0"/>
              <a:ext cx="1220566" cy="314420"/>
            </a:xfrm>
            <a:custGeom>
              <a:avLst/>
              <a:gdLst/>
              <a:ahLst/>
              <a:cxnLst/>
              <a:rect r="r" b="b" t="t" l="l"/>
              <a:pathLst>
                <a:path h="314420" w="1220566">
                  <a:moveTo>
                    <a:pt x="0" y="0"/>
                  </a:moveTo>
                  <a:lnTo>
                    <a:pt x="1220566" y="0"/>
                  </a:lnTo>
                  <a:lnTo>
                    <a:pt x="1220566" y="314420"/>
                  </a:lnTo>
                  <a:lnTo>
                    <a:pt x="0" y="314420"/>
                  </a:lnTo>
                  <a:close/>
                </a:path>
              </a:pathLst>
            </a:custGeom>
            <a:solidFill>
              <a:srgbClr val="337271"/>
            </a:solidFill>
          </p:spPr>
        </p:sp>
        <p:sp>
          <p:nvSpPr>
            <p:cNvPr name="TextBox 11" id="11"/>
            <p:cNvSpPr txBox="true"/>
            <p:nvPr/>
          </p:nvSpPr>
          <p:spPr>
            <a:xfrm>
              <a:off x="0" y="-38100"/>
              <a:ext cx="1220566" cy="35252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true" flipV="false" rot="0">
            <a:off x="15690050" y="7739359"/>
            <a:ext cx="3551363" cy="1646945"/>
          </a:xfrm>
          <a:custGeom>
            <a:avLst/>
            <a:gdLst/>
            <a:ahLst/>
            <a:cxnLst/>
            <a:rect r="r" b="b" t="t" l="l"/>
            <a:pathLst>
              <a:path h="1646945" w="3551363">
                <a:moveTo>
                  <a:pt x="3551363" y="0"/>
                </a:moveTo>
                <a:lnTo>
                  <a:pt x="0" y="0"/>
                </a:lnTo>
                <a:lnTo>
                  <a:pt x="0" y="1646944"/>
                </a:lnTo>
                <a:lnTo>
                  <a:pt x="3551363" y="1646944"/>
                </a:lnTo>
                <a:lnTo>
                  <a:pt x="355136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4796206" y="2290466"/>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Our Team</a:t>
            </a:r>
          </a:p>
        </p:txBody>
      </p:sp>
      <p:sp>
        <p:nvSpPr>
          <p:cNvPr name="TextBox 14" id="14"/>
          <p:cNvSpPr txBox="true"/>
          <p:nvPr/>
        </p:nvSpPr>
        <p:spPr>
          <a:xfrm rot="0">
            <a:off x="1839779" y="5487987"/>
            <a:ext cx="4119690" cy="863600"/>
          </a:xfrm>
          <a:prstGeom prst="rect">
            <a:avLst/>
          </a:prstGeom>
        </p:spPr>
        <p:txBody>
          <a:bodyPr anchor="t" rtlCol="false" tIns="0" lIns="0" bIns="0" rIns="0">
            <a:spAutoFit/>
          </a:bodyPr>
          <a:lstStyle/>
          <a:p>
            <a:pPr algn="ctr">
              <a:lnSpc>
                <a:spcPts val="7000"/>
              </a:lnSpc>
            </a:pPr>
            <a:r>
              <a:rPr lang="en-US" sz="5000">
                <a:solidFill>
                  <a:srgbClr val="FFFFFF"/>
                </a:solidFill>
                <a:latin typeface="Nunito"/>
                <a:ea typeface="Nunito"/>
                <a:cs typeface="Nunito"/>
                <a:sym typeface="Nunito"/>
              </a:rPr>
              <a:t>Ashrith Rao</a:t>
            </a:r>
          </a:p>
        </p:txBody>
      </p:sp>
      <p:sp>
        <p:nvSpPr>
          <p:cNvPr name="TextBox 15" id="15"/>
          <p:cNvSpPr txBox="true"/>
          <p:nvPr/>
        </p:nvSpPr>
        <p:spPr>
          <a:xfrm rot="0">
            <a:off x="7084155" y="5487987"/>
            <a:ext cx="4119690" cy="863600"/>
          </a:xfrm>
          <a:prstGeom prst="rect">
            <a:avLst/>
          </a:prstGeom>
        </p:spPr>
        <p:txBody>
          <a:bodyPr anchor="t" rtlCol="false" tIns="0" lIns="0" bIns="0" rIns="0">
            <a:spAutoFit/>
          </a:bodyPr>
          <a:lstStyle/>
          <a:p>
            <a:pPr algn="ctr">
              <a:lnSpc>
                <a:spcPts val="7000"/>
              </a:lnSpc>
            </a:pPr>
            <a:r>
              <a:rPr lang="en-US" sz="5000">
                <a:solidFill>
                  <a:srgbClr val="FFFFFF"/>
                </a:solidFill>
                <a:latin typeface="Nunito"/>
                <a:ea typeface="Nunito"/>
                <a:cs typeface="Nunito"/>
                <a:sym typeface="Nunito"/>
              </a:rPr>
              <a:t>Shrot Pandey</a:t>
            </a:r>
          </a:p>
        </p:txBody>
      </p:sp>
      <p:sp>
        <p:nvSpPr>
          <p:cNvPr name="TextBox 16" id="16"/>
          <p:cNvSpPr txBox="true"/>
          <p:nvPr/>
        </p:nvSpPr>
        <p:spPr>
          <a:xfrm rot="0">
            <a:off x="12328531" y="5487987"/>
            <a:ext cx="4119690" cy="863600"/>
          </a:xfrm>
          <a:prstGeom prst="rect">
            <a:avLst/>
          </a:prstGeom>
        </p:spPr>
        <p:txBody>
          <a:bodyPr anchor="t" rtlCol="false" tIns="0" lIns="0" bIns="0" rIns="0">
            <a:spAutoFit/>
          </a:bodyPr>
          <a:lstStyle/>
          <a:p>
            <a:pPr algn="ctr">
              <a:lnSpc>
                <a:spcPts val="7000"/>
              </a:lnSpc>
            </a:pPr>
            <a:r>
              <a:rPr lang="en-US" sz="5000">
                <a:solidFill>
                  <a:srgbClr val="FFFFFF"/>
                </a:solidFill>
                <a:latin typeface="Nunito"/>
                <a:ea typeface="Nunito"/>
                <a:cs typeface="Nunito"/>
                <a:sym typeface="Nunito"/>
              </a:rPr>
              <a:t>Neha</a:t>
            </a:r>
          </a:p>
        </p:txBody>
      </p:sp>
      <p:sp>
        <p:nvSpPr>
          <p:cNvPr name="Freeform 17" id="17"/>
          <p:cNvSpPr/>
          <p:nvPr/>
        </p:nvSpPr>
        <p:spPr>
          <a:xfrm flipH="false" flipV="false" rot="0">
            <a:off x="-746982" y="1028700"/>
            <a:ext cx="3551363" cy="1646945"/>
          </a:xfrm>
          <a:custGeom>
            <a:avLst/>
            <a:gdLst/>
            <a:ahLst/>
            <a:cxnLst/>
            <a:rect r="r" b="b" t="t" l="l"/>
            <a:pathLst>
              <a:path h="1646945" w="3551363">
                <a:moveTo>
                  <a:pt x="0" y="0"/>
                </a:moveTo>
                <a:lnTo>
                  <a:pt x="3551364" y="0"/>
                </a:lnTo>
                <a:lnTo>
                  <a:pt x="3551364" y="1646945"/>
                </a:lnTo>
                <a:lnTo>
                  <a:pt x="0" y="1646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0">
            <a:off x="-2099932" y="-1172339"/>
            <a:ext cx="6257264" cy="3629213"/>
          </a:xfrm>
          <a:custGeom>
            <a:avLst/>
            <a:gdLst/>
            <a:ahLst/>
            <a:cxnLst/>
            <a:rect r="r" b="b" t="t" l="l"/>
            <a:pathLst>
              <a:path h="3629213" w="6257264">
                <a:moveTo>
                  <a:pt x="0" y="0"/>
                </a:moveTo>
                <a:lnTo>
                  <a:pt x="6257264" y="0"/>
                </a:lnTo>
                <a:lnTo>
                  <a:pt x="6257264" y="3629214"/>
                </a:lnTo>
                <a:lnTo>
                  <a:pt x="0" y="3629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533991" y="6870677"/>
            <a:ext cx="2977619" cy="4114800"/>
          </a:xfrm>
          <a:custGeom>
            <a:avLst/>
            <a:gdLst/>
            <a:ahLst/>
            <a:cxnLst/>
            <a:rect r="r" b="b" t="t" l="l"/>
            <a:pathLst>
              <a:path h="4114800" w="2977619">
                <a:moveTo>
                  <a:pt x="0" y="0"/>
                </a:moveTo>
                <a:lnTo>
                  <a:pt x="2977619" y="0"/>
                </a:lnTo>
                <a:lnTo>
                  <a:pt x="297761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4796206" y="2199700"/>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Introduction</a:t>
            </a:r>
          </a:p>
        </p:txBody>
      </p:sp>
      <p:sp>
        <p:nvSpPr>
          <p:cNvPr name="TextBox 6" id="6"/>
          <p:cNvSpPr txBox="true"/>
          <p:nvPr/>
        </p:nvSpPr>
        <p:spPr>
          <a:xfrm rot="0">
            <a:off x="1974976" y="4115375"/>
            <a:ext cx="14338047" cy="31813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This project builds a complete Azure-based data engineering pipeline that ingests raw data using Azure Data Factory, stores it in Azure Data Lake, transforms it using Databricks and PySpark, and loads analytics-ready data into Azure Synapse Analytics for SQL querying and Power BI reporting. It follows the Medallion Architecture (Bronze, Silver, Gold) to ensure scalable, automated, and high-performance data processing.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2697845" y="2812559"/>
            <a:ext cx="12892311" cy="1365838"/>
            <a:chOff x="0" y="0"/>
            <a:chExt cx="3395506" cy="359727"/>
          </a:xfrm>
        </p:grpSpPr>
        <p:sp>
          <p:nvSpPr>
            <p:cNvPr name="Freeform 4" id="4"/>
            <p:cNvSpPr/>
            <p:nvPr/>
          </p:nvSpPr>
          <p:spPr>
            <a:xfrm flipH="false" flipV="false" rot="0">
              <a:off x="0" y="0"/>
              <a:ext cx="3395506" cy="359727"/>
            </a:xfrm>
            <a:custGeom>
              <a:avLst/>
              <a:gdLst/>
              <a:ahLst/>
              <a:cxnLst/>
              <a:rect r="r" b="b" t="t" l="l"/>
              <a:pathLst>
                <a:path h="359727" w="3395506">
                  <a:moveTo>
                    <a:pt x="0" y="0"/>
                  </a:moveTo>
                  <a:lnTo>
                    <a:pt x="3395506" y="0"/>
                  </a:lnTo>
                  <a:lnTo>
                    <a:pt x="3395506" y="359727"/>
                  </a:lnTo>
                  <a:lnTo>
                    <a:pt x="0" y="359727"/>
                  </a:lnTo>
                  <a:close/>
                </a:path>
              </a:pathLst>
            </a:custGeom>
            <a:ln w="38100" cap="sq">
              <a:solidFill>
                <a:srgbClr val="337271"/>
              </a:solidFill>
              <a:prstDash val="solid"/>
              <a:miter/>
            </a:ln>
          </p:spPr>
        </p:sp>
        <p:sp>
          <p:nvSpPr>
            <p:cNvPr name="TextBox 5" id="5"/>
            <p:cNvSpPr txBox="true"/>
            <p:nvPr/>
          </p:nvSpPr>
          <p:spPr>
            <a:xfrm>
              <a:off x="0" y="-38100"/>
              <a:ext cx="3395506" cy="39782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697845" y="4578447"/>
            <a:ext cx="12892311" cy="1365838"/>
            <a:chOff x="0" y="0"/>
            <a:chExt cx="3395506" cy="359727"/>
          </a:xfrm>
        </p:grpSpPr>
        <p:sp>
          <p:nvSpPr>
            <p:cNvPr name="Freeform 7" id="7"/>
            <p:cNvSpPr/>
            <p:nvPr/>
          </p:nvSpPr>
          <p:spPr>
            <a:xfrm flipH="false" flipV="false" rot="0">
              <a:off x="0" y="0"/>
              <a:ext cx="3395506" cy="359727"/>
            </a:xfrm>
            <a:custGeom>
              <a:avLst/>
              <a:gdLst/>
              <a:ahLst/>
              <a:cxnLst/>
              <a:rect r="r" b="b" t="t" l="l"/>
              <a:pathLst>
                <a:path h="359727" w="3395506">
                  <a:moveTo>
                    <a:pt x="0" y="0"/>
                  </a:moveTo>
                  <a:lnTo>
                    <a:pt x="3395506" y="0"/>
                  </a:lnTo>
                  <a:lnTo>
                    <a:pt x="3395506" y="359727"/>
                  </a:lnTo>
                  <a:lnTo>
                    <a:pt x="0" y="359727"/>
                  </a:lnTo>
                  <a:close/>
                </a:path>
              </a:pathLst>
            </a:custGeom>
            <a:ln w="38100" cap="sq">
              <a:solidFill>
                <a:srgbClr val="337271"/>
              </a:solidFill>
              <a:prstDash val="solid"/>
              <a:miter/>
            </a:ln>
          </p:spPr>
        </p:sp>
        <p:sp>
          <p:nvSpPr>
            <p:cNvPr name="TextBox 8" id="8"/>
            <p:cNvSpPr txBox="true"/>
            <p:nvPr/>
          </p:nvSpPr>
          <p:spPr>
            <a:xfrm>
              <a:off x="0" y="-38100"/>
              <a:ext cx="3395506" cy="39782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2697845" y="6344335"/>
            <a:ext cx="12892311" cy="1365838"/>
            <a:chOff x="0" y="0"/>
            <a:chExt cx="3395506" cy="359727"/>
          </a:xfrm>
        </p:grpSpPr>
        <p:sp>
          <p:nvSpPr>
            <p:cNvPr name="Freeform 10" id="10"/>
            <p:cNvSpPr/>
            <p:nvPr/>
          </p:nvSpPr>
          <p:spPr>
            <a:xfrm flipH="false" flipV="false" rot="0">
              <a:off x="0" y="0"/>
              <a:ext cx="3395506" cy="359727"/>
            </a:xfrm>
            <a:custGeom>
              <a:avLst/>
              <a:gdLst/>
              <a:ahLst/>
              <a:cxnLst/>
              <a:rect r="r" b="b" t="t" l="l"/>
              <a:pathLst>
                <a:path h="359727" w="3395506">
                  <a:moveTo>
                    <a:pt x="0" y="0"/>
                  </a:moveTo>
                  <a:lnTo>
                    <a:pt x="3395506" y="0"/>
                  </a:lnTo>
                  <a:lnTo>
                    <a:pt x="3395506" y="359727"/>
                  </a:lnTo>
                  <a:lnTo>
                    <a:pt x="0" y="359727"/>
                  </a:lnTo>
                  <a:close/>
                </a:path>
              </a:pathLst>
            </a:custGeom>
            <a:ln w="38100" cap="sq">
              <a:solidFill>
                <a:srgbClr val="337271"/>
              </a:solidFill>
              <a:prstDash val="solid"/>
              <a:miter/>
            </a:ln>
          </p:spPr>
        </p:sp>
        <p:sp>
          <p:nvSpPr>
            <p:cNvPr name="TextBox 11" id="11"/>
            <p:cNvSpPr txBox="true"/>
            <p:nvPr/>
          </p:nvSpPr>
          <p:spPr>
            <a:xfrm>
              <a:off x="0" y="-38100"/>
              <a:ext cx="3395506" cy="397827"/>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4796206" y="514350"/>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Project Goals</a:t>
            </a:r>
          </a:p>
        </p:txBody>
      </p:sp>
      <p:sp>
        <p:nvSpPr>
          <p:cNvPr name="TextBox 13" id="13"/>
          <p:cNvSpPr txBox="true"/>
          <p:nvPr/>
        </p:nvSpPr>
        <p:spPr>
          <a:xfrm rot="0">
            <a:off x="2783500" y="2943028"/>
            <a:ext cx="12721001" cy="10477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Build a Scalable Cloud Data Pipeline: Design and implement an end-to-end data engineering workflow using Azure services.</a:t>
            </a:r>
          </a:p>
        </p:txBody>
      </p:sp>
      <p:sp>
        <p:nvSpPr>
          <p:cNvPr name="TextBox 14" id="14"/>
          <p:cNvSpPr txBox="true"/>
          <p:nvPr/>
        </p:nvSpPr>
        <p:spPr>
          <a:xfrm rot="0">
            <a:off x="2783500" y="4708916"/>
            <a:ext cx="12721001" cy="10477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Implement Medallion Architecture: Structure data into Bronze (raw), Silver (processed), and Gold (analytics-ready) layers.</a:t>
            </a:r>
          </a:p>
        </p:txBody>
      </p:sp>
      <p:sp>
        <p:nvSpPr>
          <p:cNvPr name="TextBox 15" id="15"/>
          <p:cNvSpPr txBox="true"/>
          <p:nvPr/>
        </p:nvSpPr>
        <p:spPr>
          <a:xfrm rot="0">
            <a:off x="2783500" y="6474804"/>
            <a:ext cx="12721001" cy="10477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Enable Big Data Processing: Use distributed computing with PySpark in Databricks for efficient transformation.</a:t>
            </a:r>
          </a:p>
        </p:txBody>
      </p:sp>
      <p:sp>
        <p:nvSpPr>
          <p:cNvPr name="Freeform 16" id="16"/>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3406006" y="9057766"/>
            <a:ext cx="4196989" cy="770720"/>
          </a:xfrm>
          <a:custGeom>
            <a:avLst/>
            <a:gdLst/>
            <a:ahLst/>
            <a:cxnLst/>
            <a:rect r="r" b="b" t="t" l="l"/>
            <a:pathLst>
              <a:path h="770720" w="4196989">
                <a:moveTo>
                  <a:pt x="0" y="0"/>
                </a:moveTo>
                <a:lnTo>
                  <a:pt x="4196989" y="0"/>
                </a:lnTo>
                <a:lnTo>
                  <a:pt x="4196989" y="770720"/>
                </a:lnTo>
                <a:lnTo>
                  <a:pt x="0" y="7707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2783500" y="8110223"/>
            <a:ext cx="12892311" cy="1365838"/>
            <a:chOff x="0" y="0"/>
            <a:chExt cx="3395506" cy="359727"/>
          </a:xfrm>
        </p:grpSpPr>
        <p:sp>
          <p:nvSpPr>
            <p:cNvPr name="Freeform 19" id="19"/>
            <p:cNvSpPr/>
            <p:nvPr/>
          </p:nvSpPr>
          <p:spPr>
            <a:xfrm flipH="false" flipV="false" rot="0">
              <a:off x="0" y="0"/>
              <a:ext cx="3395506" cy="359727"/>
            </a:xfrm>
            <a:custGeom>
              <a:avLst/>
              <a:gdLst/>
              <a:ahLst/>
              <a:cxnLst/>
              <a:rect r="r" b="b" t="t" l="l"/>
              <a:pathLst>
                <a:path h="359727" w="3395506">
                  <a:moveTo>
                    <a:pt x="0" y="0"/>
                  </a:moveTo>
                  <a:lnTo>
                    <a:pt x="3395506" y="0"/>
                  </a:lnTo>
                  <a:lnTo>
                    <a:pt x="3395506" y="359727"/>
                  </a:lnTo>
                  <a:lnTo>
                    <a:pt x="0" y="359727"/>
                  </a:lnTo>
                  <a:close/>
                </a:path>
              </a:pathLst>
            </a:custGeom>
            <a:ln w="38100" cap="sq">
              <a:solidFill>
                <a:srgbClr val="337271"/>
              </a:solidFill>
              <a:prstDash val="solid"/>
              <a:miter/>
            </a:ln>
          </p:spPr>
        </p:sp>
        <p:sp>
          <p:nvSpPr>
            <p:cNvPr name="TextBox 20" id="20"/>
            <p:cNvSpPr txBox="true"/>
            <p:nvPr/>
          </p:nvSpPr>
          <p:spPr>
            <a:xfrm>
              <a:off x="0" y="-38100"/>
              <a:ext cx="3395506" cy="397827"/>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2869155" y="8240692"/>
            <a:ext cx="12721001" cy="10477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Deliver Business-Ready Analytics: Load curated data into Synapse for SQL querying and Power BI reporting.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2157532" y="2929632"/>
            <a:ext cx="6698651" cy="3145707"/>
            <a:chOff x="0" y="0"/>
            <a:chExt cx="1764254" cy="828499"/>
          </a:xfrm>
        </p:grpSpPr>
        <p:sp>
          <p:nvSpPr>
            <p:cNvPr name="Freeform 4" id="4"/>
            <p:cNvSpPr/>
            <p:nvPr/>
          </p:nvSpPr>
          <p:spPr>
            <a:xfrm flipH="false" flipV="false" rot="0">
              <a:off x="0" y="0"/>
              <a:ext cx="1764254" cy="828499"/>
            </a:xfrm>
            <a:custGeom>
              <a:avLst/>
              <a:gdLst/>
              <a:ahLst/>
              <a:cxnLst/>
              <a:rect r="r" b="b" t="t" l="l"/>
              <a:pathLst>
                <a:path h="828499" w="1764254">
                  <a:moveTo>
                    <a:pt x="0" y="0"/>
                  </a:moveTo>
                  <a:lnTo>
                    <a:pt x="1764254" y="0"/>
                  </a:lnTo>
                  <a:lnTo>
                    <a:pt x="1764254" y="828499"/>
                  </a:lnTo>
                  <a:lnTo>
                    <a:pt x="0" y="828499"/>
                  </a:lnTo>
                  <a:close/>
                </a:path>
              </a:pathLst>
            </a:custGeom>
            <a:solidFill>
              <a:srgbClr val="337271"/>
            </a:solidFill>
          </p:spPr>
        </p:sp>
        <p:sp>
          <p:nvSpPr>
            <p:cNvPr name="TextBox 5" id="5"/>
            <p:cNvSpPr txBox="true"/>
            <p:nvPr/>
          </p:nvSpPr>
          <p:spPr>
            <a:xfrm>
              <a:off x="0" y="-38100"/>
              <a:ext cx="1764254" cy="86659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796206" y="648395"/>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Problems</a:t>
            </a:r>
          </a:p>
        </p:txBody>
      </p:sp>
      <p:sp>
        <p:nvSpPr>
          <p:cNvPr name="TextBox 7" id="7"/>
          <p:cNvSpPr txBox="true"/>
          <p:nvPr/>
        </p:nvSpPr>
        <p:spPr>
          <a:xfrm rot="0">
            <a:off x="2552476" y="3821694"/>
            <a:ext cx="5908762" cy="2114550"/>
          </a:xfrm>
          <a:prstGeom prst="rect">
            <a:avLst/>
          </a:prstGeom>
        </p:spPr>
        <p:txBody>
          <a:bodyPr anchor="t" rtlCol="false" tIns="0" lIns="0" bIns="0" rIns="0">
            <a:spAutoFit/>
          </a:bodyPr>
          <a:lstStyle/>
          <a:p>
            <a:pPr algn="ctr">
              <a:lnSpc>
                <a:spcPts val="4200"/>
              </a:lnSpc>
            </a:pPr>
            <a:r>
              <a:rPr lang="en-US" sz="3000" b="true">
                <a:solidFill>
                  <a:srgbClr val="FFFFFF"/>
                </a:solidFill>
                <a:latin typeface="Nunito Bold"/>
                <a:ea typeface="Nunito Bold"/>
                <a:cs typeface="Nunito Bold"/>
                <a:sym typeface="Nunito Bold"/>
              </a:rPr>
              <a:t>Raw Data is Unstructured &amp; Messy</a:t>
            </a:r>
          </a:p>
          <a:p>
            <a:pPr algn="ctr">
              <a:lnSpc>
                <a:spcPts val="4200"/>
              </a:lnSpc>
            </a:pPr>
            <a:r>
              <a:rPr lang="en-US" sz="3000">
                <a:solidFill>
                  <a:srgbClr val="FFFFFF"/>
                </a:solidFill>
                <a:latin typeface="Nunito"/>
                <a:ea typeface="Nunito"/>
                <a:cs typeface="Nunito"/>
                <a:sym typeface="Nunito"/>
              </a:rPr>
              <a:t> APIs and datasets contain nulls, inconsistent schema, duplicates.</a:t>
            </a:r>
          </a:p>
        </p:txBody>
      </p:sp>
      <p:sp>
        <p:nvSpPr>
          <p:cNvPr name="TextBox 8" id="8"/>
          <p:cNvSpPr txBox="true"/>
          <p:nvPr/>
        </p:nvSpPr>
        <p:spPr>
          <a:xfrm rot="0">
            <a:off x="4324346" y="2939044"/>
            <a:ext cx="2365022" cy="901700"/>
          </a:xfrm>
          <a:prstGeom prst="rect">
            <a:avLst/>
          </a:prstGeom>
        </p:spPr>
        <p:txBody>
          <a:bodyPr anchor="t" rtlCol="false" tIns="0" lIns="0" bIns="0" rIns="0">
            <a:spAutoFit/>
          </a:bodyPr>
          <a:lstStyle/>
          <a:p>
            <a:pPr algn="ctr">
              <a:lnSpc>
                <a:spcPts val="7000"/>
              </a:lnSpc>
            </a:pPr>
            <a:r>
              <a:rPr lang="en-US" sz="5000">
                <a:solidFill>
                  <a:srgbClr val="FFFFFF"/>
                </a:solidFill>
                <a:latin typeface="AC Diary Girl"/>
                <a:ea typeface="AC Diary Girl"/>
                <a:cs typeface="AC Diary Girl"/>
                <a:sym typeface="AC Diary Girl"/>
              </a:rPr>
              <a:t>1</a:t>
            </a:r>
          </a:p>
        </p:txBody>
      </p:sp>
      <p:sp>
        <p:nvSpPr>
          <p:cNvPr name="Freeform 9" id="9"/>
          <p:cNvSpPr/>
          <p:nvPr/>
        </p:nvSpPr>
        <p:spPr>
          <a:xfrm flipH="false" flipV="false" rot="0">
            <a:off x="15533991" y="6870677"/>
            <a:ext cx="2977619" cy="4114800"/>
          </a:xfrm>
          <a:custGeom>
            <a:avLst/>
            <a:gdLst/>
            <a:ahLst/>
            <a:cxnLst/>
            <a:rect r="r" b="b" t="t" l="l"/>
            <a:pathLst>
              <a:path h="4114800" w="2977619">
                <a:moveTo>
                  <a:pt x="0" y="0"/>
                </a:moveTo>
                <a:lnTo>
                  <a:pt x="2977619" y="0"/>
                </a:lnTo>
                <a:lnTo>
                  <a:pt x="297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425143" y="-389831"/>
            <a:ext cx="2977619" cy="4114800"/>
          </a:xfrm>
          <a:custGeom>
            <a:avLst/>
            <a:gdLst/>
            <a:ahLst/>
            <a:cxnLst/>
            <a:rect r="r" b="b" t="t" l="l"/>
            <a:pathLst>
              <a:path h="4114800" w="2977619">
                <a:moveTo>
                  <a:pt x="0" y="0"/>
                </a:moveTo>
                <a:lnTo>
                  <a:pt x="2977619" y="0"/>
                </a:lnTo>
                <a:lnTo>
                  <a:pt x="297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2157532" y="6218214"/>
            <a:ext cx="6698651" cy="3145707"/>
            <a:chOff x="0" y="0"/>
            <a:chExt cx="1764254" cy="828499"/>
          </a:xfrm>
        </p:grpSpPr>
        <p:sp>
          <p:nvSpPr>
            <p:cNvPr name="Freeform 12" id="12"/>
            <p:cNvSpPr/>
            <p:nvPr/>
          </p:nvSpPr>
          <p:spPr>
            <a:xfrm flipH="false" flipV="false" rot="0">
              <a:off x="0" y="0"/>
              <a:ext cx="1764254" cy="828499"/>
            </a:xfrm>
            <a:custGeom>
              <a:avLst/>
              <a:gdLst/>
              <a:ahLst/>
              <a:cxnLst/>
              <a:rect r="r" b="b" t="t" l="l"/>
              <a:pathLst>
                <a:path h="828499" w="1764254">
                  <a:moveTo>
                    <a:pt x="0" y="0"/>
                  </a:moveTo>
                  <a:lnTo>
                    <a:pt x="1764254" y="0"/>
                  </a:lnTo>
                  <a:lnTo>
                    <a:pt x="1764254" y="828499"/>
                  </a:lnTo>
                  <a:lnTo>
                    <a:pt x="0" y="828499"/>
                  </a:lnTo>
                  <a:close/>
                </a:path>
              </a:pathLst>
            </a:custGeom>
            <a:solidFill>
              <a:srgbClr val="337271"/>
            </a:solidFill>
          </p:spPr>
        </p:sp>
        <p:sp>
          <p:nvSpPr>
            <p:cNvPr name="TextBox 13" id="13"/>
            <p:cNvSpPr txBox="true"/>
            <p:nvPr/>
          </p:nvSpPr>
          <p:spPr>
            <a:xfrm>
              <a:off x="0" y="-38100"/>
              <a:ext cx="1764254" cy="866599"/>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2552476" y="7110276"/>
            <a:ext cx="5908762" cy="2114550"/>
          </a:xfrm>
          <a:prstGeom prst="rect">
            <a:avLst/>
          </a:prstGeom>
        </p:spPr>
        <p:txBody>
          <a:bodyPr anchor="t" rtlCol="false" tIns="0" lIns="0" bIns="0" rIns="0">
            <a:spAutoFit/>
          </a:bodyPr>
          <a:lstStyle/>
          <a:p>
            <a:pPr algn="ctr">
              <a:lnSpc>
                <a:spcPts val="4200"/>
              </a:lnSpc>
            </a:pPr>
            <a:r>
              <a:rPr lang="en-US" sz="3000" b="true">
                <a:solidFill>
                  <a:srgbClr val="FFFFFF"/>
                </a:solidFill>
                <a:latin typeface="Nunito Bold"/>
                <a:ea typeface="Nunito Bold"/>
                <a:cs typeface="Nunito Bold"/>
                <a:sym typeface="Nunito Bold"/>
              </a:rPr>
              <a:t>Scalability Issues</a:t>
            </a:r>
          </a:p>
          <a:p>
            <a:pPr algn="ctr">
              <a:lnSpc>
                <a:spcPts val="4200"/>
              </a:lnSpc>
            </a:pPr>
            <a:r>
              <a:rPr lang="en-US" sz="3000">
                <a:solidFill>
                  <a:srgbClr val="FFFFFF"/>
                </a:solidFill>
                <a:latin typeface="Nunito"/>
                <a:ea typeface="Nunito"/>
                <a:cs typeface="Nunito"/>
                <a:sym typeface="Nunito"/>
              </a:rPr>
              <a:t> Traditional systems cannot handle growing datasets efficiently.</a:t>
            </a:r>
          </a:p>
        </p:txBody>
      </p:sp>
      <p:sp>
        <p:nvSpPr>
          <p:cNvPr name="TextBox 15" id="15"/>
          <p:cNvSpPr txBox="true"/>
          <p:nvPr/>
        </p:nvSpPr>
        <p:spPr>
          <a:xfrm rot="0">
            <a:off x="4324346" y="6218101"/>
            <a:ext cx="2365022" cy="901700"/>
          </a:xfrm>
          <a:prstGeom prst="rect">
            <a:avLst/>
          </a:prstGeom>
        </p:spPr>
        <p:txBody>
          <a:bodyPr anchor="t" rtlCol="false" tIns="0" lIns="0" bIns="0" rIns="0">
            <a:spAutoFit/>
          </a:bodyPr>
          <a:lstStyle/>
          <a:p>
            <a:pPr algn="ctr">
              <a:lnSpc>
                <a:spcPts val="7000"/>
              </a:lnSpc>
            </a:pPr>
            <a:r>
              <a:rPr lang="en-US" sz="5000">
                <a:solidFill>
                  <a:srgbClr val="FFFFFF"/>
                </a:solidFill>
                <a:latin typeface="AC Diary Girl"/>
                <a:ea typeface="AC Diary Girl"/>
                <a:cs typeface="AC Diary Girl"/>
                <a:sym typeface="AC Diary Girl"/>
              </a:rPr>
              <a:t>2</a:t>
            </a:r>
          </a:p>
        </p:txBody>
      </p:sp>
      <p:grpSp>
        <p:nvGrpSpPr>
          <p:cNvPr name="Group 16" id="16"/>
          <p:cNvGrpSpPr/>
          <p:nvPr/>
        </p:nvGrpSpPr>
        <p:grpSpPr>
          <a:xfrm rot="0">
            <a:off x="9001125" y="2929632"/>
            <a:ext cx="6698651" cy="3145707"/>
            <a:chOff x="0" y="0"/>
            <a:chExt cx="1764254" cy="828499"/>
          </a:xfrm>
        </p:grpSpPr>
        <p:sp>
          <p:nvSpPr>
            <p:cNvPr name="Freeform 17" id="17"/>
            <p:cNvSpPr/>
            <p:nvPr/>
          </p:nvSpPr>
          <p:spPr>
            <a:xfrm flipH="false" flipV="false" rot="0">
              <a:off x="0" y="0"/>
              <a:ext cx="1764254" cy="828499"/>
            </a:xfrm>
            <a:custGeom>
              <a:avLst/>
              <a:gdLst/>
              <a:ahLst/>
              <a:cxnLst/>
              <a:rect r="r" b="b" t="t" l="l"/>
              <a:pathLst>
                <a:path h="828499" w="1764254">
                  <a:moveTo>
                    <a:pt x="0" y="0"/>
                  </a:moveTo>
                  <a:lnTo>
                    <a:pt x="1764254" y="0"/>
                  </a:lnTo>
                  <a:lnTo>
                    <a:pt x="1764254" y="828499"/>
                  </a:lnTo>
                  <a:lnTo>
                    <a:pt x="0" y="828499"/>
                  </a:lnTo>
                  <a:close/>
                </a:path>
              </a:pathLst>
            </a:custGeom>
            <a:solidFill>
              <a:srgbClr val="337271"/>
            </a:solidFill>
          </p:spPr>
        </p:sp>
        <p:sp>
          <p:nvSpPr>
            <p:cNvPr name="TextBox 18" id="18"/>
            <p:cNvSpPr txBox="true"/>
            <p:nvPr/>
          </p:nvSpPr>
          <p:spPr>
            <a:xfrm>
              <a:off x="0" y="-38100"/>
              <a:ext cx="1764254" cy="866599"/>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9396069" y="3821694"/>
            <a:ext cx="5908762" cy="2114550"/>
          </a:xfrm>
          <a:prstGeom prst="rect">
            <a:avLst/>
          </a:prstGeom>
        </p:spPr>
        <p:txBody>
          <a:bodyPr anchor="t" rtlCol="false" tIns="0" lIns="0" bIns="0" rIns="0">
            <a:spAutoFit/>
          </a:bodyPr>
          <a:lstStyle/>
          <a:p>
            <a:pPr algn="ctr">
              <a:lnSpc>
                <a:spcPts val="4200"/>
              </a:lnSpc>
            </a:pPr>
            <a:r>
              <a:rPr lang="en-US" sz="3000" b="true">
                <a:solidFill>
                  <a:srgbClr val="FFFFFF"/>
                </a:solidFill>
                <a:latin typeface="Nunito Bold"/>
                <a:ea typeface="Nunito Bold"/>
                <a:cs typeface="Nunito Bold"/>
                <a:sym typeface="Nunito Bold"/>
              </a:rPr>
              <a:t>Raw Data is Unstructured &amp; Messy</a:t>
            </a:r>
          </a:p>
          <a:p>
            <a:pPr algn="ctr">
              <a:lnSpc>
                <a:spcPts val="4200"/>
              </a:lnSpc>
            </a:pPr>
            <a:r>
              <a:rPr lang="en-US" sz="3000">
                <a:solidFill>
                  <a:srgbClr val="FFFFFF"/>
                </a:solidFill>
                <a:latin typeface="Nunito"/>
                <a:ea typeface="Nunito"/>
                <a:cs typeface="Nunito"/>
                <a:sym typeface="Nunito"/>
              </a:rPr>
              <a:t> APIs and datasets contain nulls, inconsistent schema, duplicates.</a:t>
            </a:r>
          </a:p>
        </p:txBody>
      </p:sp>
      <p:sp>
        <p:nvSpPr>
          <p:cNvPr name="TextBox 20" id="20"/>
          <p:cNvSpPr txBox="true"/>
          <p:nvPr/>
        </p:nvSpPr>
        <p:spPr>
          <a:xfrm rot="0">
            <a:off x="11167939" y="2939044"/>
            <a:ext cx="2365022" cy="901700"/>
          </a:xfrm>
          <a:prstGeom prst="rect">
            <a:avLst/>
          </a:prstGeom>
        </p:spPr>
        <p:txBody>
          <a:bodyPr anchor="t" rtlCol="false" tIns="0" lIns="0" bIns="0" rIns="0">
            <a:spAutoFit/>
          </a:bodyPr>
          <a:lstStyle/>
          <a:p>
            <a:pPr algn="ctr">
              <a:lnSpc>
                <a:spcPts val="7000"/>
              </a:lnSpc>
            </a:pPr>
            <a:r>
              <a:rPr lang="en-US" sz="5000">
                <a:solidFill>
                  <a:srgbClr val="FFFFFF"/>
                </a:solidFill>
                <a:latin typeface="AC Diary Girl"/>
                <a:ea typeface="AC Diary Girl"/>
                <a:cs typeface="AC Diary Girl"/>
                <a:sym typeface="AC Diary Girl"/>
              </a:rPr>
              <a:t>3</a:t>
            </a:r>
          </a:p>
        </p:txBody>
      </p:sp>
      <p:grpSp>
        <p:nvGrpSpPr>
          <p:cNvPr name="Group 21" id="21"/>
          <p:cNvGrpSpPr/>
          <p:nvPr/>
        </p:nvGrpSpPr>
        <p:grpSpPr>
          <a:xfrm rot="0">
            <a:off x="9001125" y="6218214"/>
            <a:ext cx="6698651" cy="3145707"/>
            <a:chOff x="0" y="0"/>
            <a:chExt cx="1764254" cy="828499"/>
          </a:xfrm>
        </p:grpSpPr>
        <p:sp>
          <p:nvSpPr>
            <p:cNvPr name="Freeform 22" id="22"/>
            <p:cNvSpPr/>
            <p:nvPr/>
          </p:nvSpPr>
          <p:spPr>
            <a:xfrm flipH="false" flipV="false" rot="0">
              <a:off x="0" y="0"/>
              <a:ext cx="1764254" cy="828499"/>
            </a:xfrm>
            <a:custGeom>
              <a:avLst/>
              <a:gdLst/>
              <a:ahLst/>
              <a:cxnLst/>
              <a:rect r="r" b="b" t="t" l="l"/>
              <a:pathLst>
                <a:path h="828499" w="1764254">
                  <a:moveTo>
                    <a:pt x="0" y="0"/>
                  </a:moveTo>
                  <a:lnTo>
                    <a:pt x="1764254" y="0"/>
                  </a:lnTo>
                  <a:lnTo>
                    <a:pt x="1764254" y="828499"/>
                  </a:lnTo>
                  <a:lnTo>
                    <a:pt x="0" y="828499"/>
                  </a:lnTo>
                  <a:close/>
                </a:path>
              </a:pathLst>
            </a:custGeom>
            <a:solidFill>
              <a:srgbClr val="337271"/>
            </a:solidFill>
          </p:spPr>
        </p:sp>
        <p:sp>
          <p:nvSpPr>
            <p:cNvPr name="TextBox 23" id="23"/>
            <p:cNvSpPr txBox="true"/>
            <p:nvPr/>
          </p:nvSpPr>
          <p:spPr>
            <a:xfrm>
              <a:off x="0" y="-38100"/>
              <a:ext cx="1764254" cy="866599"/>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281489" y="7110276"/>
            <a:ext cx="6137922" cy="2114550"/>
          </a:xfrm>
          <a:prstGeom prst="rect">
            <a:avLst/>
          </a:prstGeom>
        </p:spPr>
        <p:txBody>
          <a:bodyPr anchor="t" rtlCol="false" tIns="0" lIns="0" bIns="0" rIns="0">
            <a:spAutoFit/>
          </a:bodyPr>
          <a:lstStyle/>
          <a:p>
            <a:pPr algn="ctr">
              <a:lnSpc>
                <a:spcPts val="4200"/>
              </a:lnSpc>
            </a:pPr>
            <a:r>
              <a:rPr lang="en-US" sz="3000" b="true">
                <a:solidFill>
                  <a:srgbClr val="FFFFFF"/>
                </a:solidFill>
                <a:latin typeface="Nunito Bold"/>
                <a:ea typeface="Nunito Bold"/>
                <a:cs typeface="Nunito Bold"/>
                <a:sym typeface="Nunito Bold"/>
              </a:rPr>
              <a:t>Lack of Centralized</a:t>
            </a:r>
          </a:p>
          <a:p>
            <a:pPr algn="ctr">
              <a:lnSpc>
                <a:spcPts val="4200"/>
              </a:lnSpc>
            </a:pPr>
            <a:r>
              <a:rPr lang="en-US" sz="3000">
                <a:solidFill>
                  <a:srgbClr val="FFFFFF"/>
                </a:solidFill>
                <a:latin typeface="Nunito"/>
                <a:ea typeface="Nunito"/>
                <a:cs typeface="Nunito"/>
                <a:sym typeface="Nunito"/>
              </a:rPr>
              <a:t> Analytics Layer Businesses struggle to generate fast insights from fragmented data.</a:t>
            </a:r>
          </a:p>
        </p:txBody>
      </p:sp>
      <p:sp>
        <p:nvSpPr>
          <p:cNvPr name="TextBox 25" id="25"/>
          <p:cNvSpPr txBox="true"/>
          <p:nvPr/>
        </p:nvSpPr>
        <p:spPr>
          <a:xfrm rot="0">
            <a:off x="11167939" y="6218101"/>
            <a:ext cx="2365022" cy="901700"/>
          </a:xfrm>
          <a:prstGeom prst="rect">
            <a:avLst/>
          </a:prstGeom>
        </p:spPr>
        <p:txBody>
          <a:bodyPr anchor="t" rtlCol="false" tIns="0" lIns="0" bIns="0" rIns="0">
            <a:spAutoFit/>
          </a:bodyPr>
          <a:lstStyle/>
          <a:p>
            <a:pPr algn="ctr">
              <a:lnSpc>
                <a:spcPts val="7000"/>
              </a:lnSpc>
            </a:pPr>
            <a:r>
              <a:rPr lang="en-US" sz="5000">
                <a:solidFill>
                  <a:srgbClr val="FFFFFF"/>
                </a:solidFill>
                <a:latin typeface="AC Diary Girl"/>
                <a:ea typeface="AC Diary Girl"/>
                <a:cs typeface="AC Diary Girl"/>
                <a:sym typeface="AC Diary Girl"/>
              </a:rPr>
              <a:t>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3512678" y="3614092"/>
            <a:ext cx="1393186" cy="1125001"/>
            <a:chOff x="0" y="0"/>
            <a:chExt cx="366930" cy="296297"/>
          </a:xfrm>
        </p:grpSpPr>
        <p:sp>
          <p:nvSpPr>
            <p:cNvPr name="Freeform 4" id="4"/>
            <p:cNvSpPr/>
            <p:nvPr/>
          </p:nvSpPr>
          <p:spPr>
            <a:xfrm flipH="false" flipV="false" rot="0">
              <a:off x="0" y="0"/>
              <a:ext cx="366930" cy="296297"/>
            </a:xfrm>
            <a:custGeom>
              <a:avLst/>
              <a:gdLst/>
              <a:ahLst/>
              <a:cxnLst/>
              <a:rect r="r" b="b" t="t" l="l"/>
              <a:pathLst>
                <a:path h="296297" w="366930">
                  <a:moveTo>
                    <a:pt x="0" y="0"/>
                  </a:moveTo>
                  <a:lnTo>
                    <a:pt x="366930" y="0"/>
                  </a:lnTo>
                  <a:lnTo>
                    <a:pt x="366930" y="296297"/>
                  </a:lnTo>
                  <a:lnTo>
                    <a:pt x="0" y="296297"/>
                  </a:lnTo>
                  <a:close/>
                </a:path>
              </a:pathLst>
            </a:custGeom>
            <a:solidFill>
              <a:srgbClr val="337271"/>
            </a:solidFill>
            <a:ln cap="sq">
              <a:noFill/>
              <a:prstDash val="solid"/>
              <a:miter/>
            </a:ln>
          </p:spPr>
        </p:sp>
        <p:sp>
          <p:nvSpPr>
            <p:cNvPr name="TextBox 5" id="5"/>
            <p:cNvSpPr txBox="true"/>
            <p:nvPr/>
          </p:nvSpPr>
          <p:spPr>
            <a:xfrm>
              <a:off x="0" y="-38100"/>
              <a:ext cx="366930" cy="3343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046771" y="4461140"/>
            <a:ext cx="13778041" cy="4118257"/>
            <a:chOff x="0" y="0"/>
            <a:chExt cx="3628785" cy="1084644"/>
          </a:xfrm>
        </p:grpSpPr>
        <p:sp>
          <p:nvSpPr>
            <p:cNvPr name="Freeform 7" id="7"/>
            <p:cNvSpPr/>
            <p:nvPr/>
          </p:nvSpPr>
          <p:spPr>
            <a:xfrm flipH="false" flipV="false" rot="0">
              <a:off x="0" y="0"/>
              <a:ext cx="3628785" cy="1084644"/>
            </a:xfrm>
            <a:custGeom>
              <a:avLst/>
              <a:gdLst/>
              <a:ahLst/>
              <a:cxnLst/>
              <a:rect r="r" b="b" t="t" l="l"/>
              <a:pathLst>
                <a:path h="1084644" w="3628785">
                  <a:moveTo>
                    <a:pt x="56190" y="0"/>
                  </a:moveTo>
                  <a:lnTo>
                    <a:pt x="3572594" y="0"/>
                  </a:lnTo>
                  <a:cubicBezTo>
                    <a:pt x="3603627" y="0"/>
                    <a:pt x="3628785" y="25157"/>
                    <a:pt x="3628785" y="56190"/>
                  </a:cubicBezTo>
                  <a:lnTo>
                    <a:pt x="3628785" y="1028454"/>
                  </a:lnTo>
                  <a:cubicBezTo>
                    <a:pt x="3628785" y="1043356"/>
                    <a:pt x="3622865" y="1057648"/>
                    <a:pt x="3612327" y="1068186"/>
                  </a:cubicBezTo>
                  <a:cubicBezTo>
                    <a:pt x="3601789" y="1078724"/>
                    <a:pt x="3587497" y="1084644"/>
                    <a:pt x="3572594" y="1084644"/>
                  </a:cubicBezTo>
                  <a:lnTo>
                    <a:pt x="56190" y="1084644"/>
                  </a:lnTo>
                  <a:cubicBezTo>
                    <a:pt x="25157" y="1084644"/>
                    <a:pt x="0" y="1059487"/>
                    <a:pt x="0" y="1028454"/>
                  </a:cubicBezTo>
                  <a:lnTo>
                    <a:pt x="0" y="56190"/>
                  </a:lnTo>
                  <a:cubicBezTo>
                    <a:pt x="0" y="25157"/>
                    <a:pt x="25157" y="0"/>
                    <a:pt x="56190" y="0"/>
                  </a:cubicBezTo>
                  <a:close/>
                </a:path>
              </a:pathLst>
            </a:custGeom>
            <a:ln w="47625" cap="rnd">
              <a:solidFill>
                <a:srgbClr val="337271"/>
              </a:solidFill>
              <a:prstDash val="lgDash"/>
              <a:round/>
            </a:ln>
          </p:spPr>
        </p:sp>
        <p:sp>
          <p:nvSpPr>
            <p:cNvPr name="TextBox 8" id="8"/>
            <p:cNvSpPr txBox="true"/>
            <p:nvPr/>
          </p:nvSpPr>
          <p:spPr>
            <a:xfrm>
              <a:off x="0" y="-38100"/>
              <a:ext cx="3628785" cy="1122744"/>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796206" y="800509"/>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Process</a:t>
            </a:r>
          </a:p>
        </p:txBody>
      </p:sp>
      <p:sp>
        <p:nvSpPr>
          <p:cNvPr name="TextBox 10" id="10"/>
          <p:cNvSpPr txBox="true"/>
          <p:nvPr/>
        </p:nvSpPr>
        <p:spPr>
          <a:xfrm rot="0">
            <a:off x="3138223" y="5945159"/>
            <a:ext cx="5542625" cy="18103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337271"/>
                </a:solidFill>
                <a:latin typeface="Nunito"/>
                <a:ea typeface="Nunito"/>
                <a:cs typeface="Nunito"/>
                <a:sym typeface="Nunito"/>
              </a:rPr>
              <a:t>Create Azure resources</a:t>
            </a:r>
          </a:p>
          <a:p>
            <a:pPr algn="l" marL="561339" indent="-280669" lvl="1">
              <a:lnSpc>
                <a:spcPts val="3639"/>
              </a:lnSpc>
              <a:buFont typeface="Arial"/>
              <a:buChar char="•"/>
            </a:pPr>
            <a:r>
              <a:rPr lang="en-US" sz="2599">
                <a:solidFill>
                  <a:srgbClr val="337271"/>
                </a:solidFill>
                <a:latin typeface="Nunito"/>
                <a:ea typeface="Nunito"/>
                <a:cs typeface="Nunito"/>
                <a:sym typeface="Nunito"/>
              </a:rPr>
              <a:t>Configure</a:t>
            </a:r>
            <a:r>
              <a:rPr lang="en-US" sz="2599">
                <a:solidFill>
                  <a:srgbClr val="337271"/>
                </a:solidFill>
                <a:latin typeface="Nunito"/>
                <a:ea typeface="Nunito"/>
                <a:cs typeface="Nunito"/>
                <a:sym typeface="Nunito"/>
              </a:rPr>
              <a:t> </a:t>
            </a:r>
            <a:r>
              <a:rPr lang="en-US" sz="2599">
                <a:solidFill>
                  <a:srgbClr val="337271"/>
                </a:solidFill>
                <a:latin typeface="Nunito"/>
                <a:ea typeface="Nunito"/>
                <a:cs typeface="Nunito"/>
                <a:sym typeface="Nunito"/>
              </a:rPr>
              <a:t>Data </a:t>
            </a:r>
            <a:r>
              <a:rPr lang="en-US" sz="2599">
                <a:solidFill>
                  <a:srgbClr val="337271"/>
                </a:solidFill>
                <a:latin typeface="Nunito"/>
                <a:ea typeface="Nunito"/>
                <a:cs typeface="Nunito"/>
                <a:sym typeface="Nunito"/>
              </a:rPr>
              <a:t>Factory pipeli</a:t>
            </a:r>
            <a:r>
              <a:rPr lang="en-US" sz="2599">
                <a:solidFill>
                  <a:srgbClr val="337271"/>
                </a:solidFill>
                <a:latin typeface="Nunito"/>
                <a:ea typeface="Nunito"/>
                <a:cs typeface="Nunito"/>
                <a:sym typeface="Nunito"/>
              </a:rPr>
              <a:t>nes</a:t>
            </a:r>
          </a:p>
          <a:p>
            <a:pPr algn="l" marL="561339" indent="-280669" lvl="1">
              <a:lnSpc>
                <a:spcPts val="3639"/>
              </a:lnSpc>
              <a:buFont typeface="Arial"/>
              <a:buChar char="•"/>
            </a:pPr>
            <a:r>
              <a:rPr lang="en-US" sz="2599">
                <a:solidFill>
                  <a:srgbClr val="337271"/>
                </a:solidFill>
                <a:latin typeface="Nunito"/>
                <a:ea typeface="Nunito"/>
                <a:cs typeface="Nunito"/>
                <a:sym typeface="Nunito"/>
              </a:rPr>
              <a:t>Ex</a:t>
            </a:r>
            <a:r>
              <a:rPr lang="en-US" sz="2599">
                <a:solidFill>
                  <a:srgbClr val="337271"/>
                </a:solidFill>
                <a:latin typeface="Nunito"/>
                <a:ea typeface="Nunito"/>
                <a:cs typeface="Nunito"/>
                <a:sym typeface="Nunito"/>
              </a:rPr>
              <a:t>t</a:t>
            </a:r>
            <a:r>
              <a:rPr lang="en-US" sz="2599">
                <a:solidFill>
                  <a:srgbClr val="337271"/>
                </a:solidFill>
                <a:latin typeface="Nunito"/>
                <a:ea typeface="Nunito"/>
                <a:cs typeface="Nunito"/>
                <a:sym typeface="Nunito"/>
              </a:rPr>
              <a:t>ract data fr</a:t>
            </a:r>
            <a:r>
              <a:rPr lang="en-US" sz="2599">
                <a:solidFill>
                  <a:srgbClr val="337271"/>
                </a:solidFill>
                <a:latin typeface="Nunito"/>
                <a:ea typeface="Nunito"/>
                <a:cs typeface="Nunito"/>
                <a:sym typeface="Nunito"/>
              </a:rPr>
              <a:t>o</a:t>
            </a:r>
            <a:r>
              <a:rPr lang="en-US" sz="2599">
                <a:solidFill>
                  <a:srgbClr val="337271"/>
                </a:solidFill>
                <a:latin typeface="Nunito"/>
                <a:ea typeface="Nunito"/>
                <a:cs typeface="Nunito"/>
                <a:sym typeface="Nunito"/>
              </a:rPr>
              <a:t>m</a:t>
            </a:r>
            <a:r>
              <a:rPr lang="en-US" sz="2599">
                <a:solidFill>
                  <a:srgbClr val="337271"/>
                </a:solidFill>
                <a:latin typeface="Nunito"/>
                <a:ea typeface="Nunito"/>
                <a:cs typeface="Nunito"/>
                <a:sym typeface="Nunito"/>
              </a:rPr>
              <a:t> </a:t>
            </a:r>
            <a:r>
              <a:rPr lang="en-US" sz="2599">
                <a:solidFill>
                  <a:srgbClr val="337271"/>
                </a:solidFill>
                <a:latin typeface="Nunito"/>
                <a:ea typeface="Nunito"/>
                <a:cs typeface="Nunito"/>
                <a:sym typeface="Nunito"/>
              </a:rPr>
              <a:t>API/dataset</a:t>
            </a:r>
          </a:p>
          <a:p>
            <a:pPr algn="ctr">
              <a:lnSpc>
                <a:spcPts val="3639"/>
              </a:lnSpc>
            </a:pPr>
          </a:p>
        </p:txBody>
      </p:sp>
      <p:sp>
        <p:nvSpPr>
          <p:cNvPr name="TextBox 11" id="11"/>
          <p:cNvSpPr txBox="true"/>
          <p:nvPr/>
        </p:nvSpPr>
        <p:spPr>
          <a:xfrm rot="0">
            <a:off x="3663257" y="3654305"/>
            <a:ext cx="1092028" cy="901700"/>
          </a:xfrm>
          <a:prstGeom prst="rect">
            <a:avLst/>
          </a:prstGeom>
        </p:spPr>
        <p:txBody>
          <a:bodyPr anchor="t" rtlCol="false" tIns="0" lIns="0" bIns="0" rIns="0">
            <a:spAutoFit/>
          </a:bodyPr>
          <a:lstStyle/>
          <a:p>
            <a:pPr algn="ctr">
              <a:lnSpc>
                <a:spcPts val="7000"/>
              </a:lnSpc>
            </a:pPr>
            <a:r>
              <a:rPr lang="en-US" sz="5000">
                <a:solidFill>
                  <a:srgbClr val="FFFFFF"/>
                </a:solidFill>
                <a:latin typeface="AC Diary Girl"/>
                <a:ea typeface="AC Diary Girl"/>
                <a:cs typeface="AC Diary Girl"/>
                <a:sym typeface="AC Diary Girl"/>
              </a:rPr>
              <a:t>1</a:t>
            </a:r>
          </a:p>
        </p:txBody>
      </p:sp>
      <p:sp>
        <p:nvSpPr>
          <p:cNvPr name="Freeform 12" id="12"/>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6626990" y="4857115"/>
            <a:ext cx="4922403" cy="438785"/>
          </a:xfrm>
          <a:prstGeom prst="rect">
            <a:avLst/>
          </a:prstGeom>
        </p:spPr>
        <p:txBody>
          <a:bodyPr anchor="t" rtlCol="false" tIns="0" lIns="0" bIns="0" rIns="0">
            <a:spAutoFit/>
          </a:bodyPr>
          <a:lstStyle/>
          <a:p>
            <a:pPr algn="ctr">
              <a:lnSpc>
                <a:spcPts val="3639"/>
              </a:lnSpc>
            </a:pPr>
            <a:r>
              <a:rPr lang="en-US" sz="2599">
                <a:solidFill>
                  <a:srgbClr val="337271"/>
                </a:solidFill>
                <a:latin typeface="Nunito"/>
                <a:ea typeface="Nunito"/>
                <a:cs typeface="Nunito"/>
                <a:sym typeface="Nunito"/>
              </a:rPr>
              <a:t> </a:t>
            </a:r>
            <a:r>
              <a:rPr lang="en-US" sz="2599" b="true">
                <a:solidFill>
                  <a:srgbClr val="337271"/>
                </a:solidFill>
                <a:latin typeface="Nunito Bold"/>
                <a:ea typeface="Nunito Bold"/>
                <a:cs typeface="Nunito Bold"/>
                <a:sym typeface="Nunito Bold"/>
              </a:rPr>
              <a:t>Data Ingestion – Bronze Layer</a:t>
            </a:r>
          </a:p>
        </p:txBody>
      </p:sp>
      <p:sp>
        <p:nvSpPr>
          <p:cNvPr name="TextBox 14" id="14"/>
          <p:cNvSpPr txBox="true"/>
          <p:nvPr/>
        </p:nvSpPr>
        <p:spPr>
          <a:xfrm rot="0">
            <a:off x="9144000" y="5945159"/>
            <a:ext cx="5842043" cy="18103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337271"/>
                </a:solidFill>
                <a:latin typeface="Nunito"/>
                <a:ea typeface="Nunito"/>
                <a:cs typeface="Nunito"/>
                <a:sym typeface="Nunito"/>
              </a:rPr>
              <a:t>Store raw data i</a:t>
            </a:r>
            <a:r>
              <a:rPr lang="en-US" sz="2599">
                <a:solidFill>
                  <a:srgbClr val="337271"/>
                </a:solidFill>
                <a:latin typeface="Nunito"/>
                <a:ea typeface="Nunito"/>
                <a:cs typeface="Nunito"/>
                <a:sym typeface="Nunito"/>
              </a:rPr>
              <a:t>n</a:t>
            </a:r>
            <a:r>
              <a:rPr lang="en-US" sz="2599">
                <a:solidFill>
                  <a:srgbClr val="337271"/>
                </a:solidFill>
                <a:latin typeface="Nunito"/>
                <a:ea typeface="Nunito"/>
                <a:cs typeface="Nunito"/>
                <a:sym typeface="Nunito"/>
              </a:rPr>
              <a:t> </a:t>
            </a:r>
            <a:r>
              <a:rPr lang="en-US" sz="2599">
                <a:solidFill>
                  <a:srgbClr val="337271"/>
                </a:solidFill>
                <a:latin typeface="Nunito"/>
                <a:ea typeface="Nunito"/>
                <a:cs typeface="Nunito"/>
                <a:sym typeface="Nunito"/>
              </a:rPr>
              <a:t>Data Lake Gen2</a:t>
            </a:r>
          </a:p>
          <a:p>
            <a:pPr algn="l" marL="561339" indent="-280669" lvl="1">
              <a:lnSpc>
                <a:spcPts val="3639"/>
              </a:lnSpc>
              <a:buFont typeface="Arial"/>
              <a:buChar char="•"/>
            </a:pPr>
            <a:r>
              <a:rPr lang="en-US" sz="2599">
                <a:solidFill>
                  <a:srgbClr val="337271"/>
                </a:solidFill>
                <a:latin typeface="Nunito"/>
                <a:ea typeface="Nunito"/>
                <a:cs typeface="Nunito"/>
                <a:sym typeface="Nunito"/>
              </a:rPr>
              <a:t>M</a:t>
            </a:r>
            <a:r>
              <a:rPr lang="en-US" sz="2599">
                <a:solidFill>
                  <a:srgbClr val="337271"/>
                </a:solidFill>
                <a:latin typeface="Nunito"/>
                <a:ea typeface="Nunito"/>
                <a:cs typeface="Nunito"/>
                <a:sym typeface="Nunito"/>
              </a:rPr>
              <a:t>aintain origi</a:t>
            </a:r>
            <a:r>
              <a:rPr lang="en-US" sz="2599">
                <a:solidFill>
                  <a:srgbClr val="337271"/>
                </a:solidFill>
                <a:latin typeface="Nunito"/>
                <a:ea typeface="Nunito"/>
                <a:cs typeface="Nunito"/>
                <a:sym typeface="Nunito"/>
              </a:rPr>
              <a:t>n</a:t>
            </a:r>
            <a:r>
              <a:rPr lang="en-US" sz="2599">
                <a:solidFill>
                  <a:srgbClr val="337271"/>
                </a:solidFill>
                <a:latin typeface="Nunito"/>
                <a:ea typeface="Nunito"/>
                <a:cs typeface="Nunito"/>
                <a:sym typeface="Nunito"/>
              </a:rPr>
              <a:t>al format f</a:t>
            </a:r>
            <a:r>
              <a:rPr lang="en-US" sz="2599">
                <a:solidFill>
                  <a:srgbClr val="337271"/>
                </a:solidFill>
                <a:latin typeface="Nunito"/>
                <a:ea typeface="Nunito"/>
                <a:cs typeface="Nunito"/>
                <a:sym typeface="Nunito"/>
              </a:rPr>
              <a:t>or </a:t>
            </a:r>
            <a:r>
              <a:rPr lang="en-US" sz="2599">
                <a:solidFill>
                  <a:srgbClr val="337271"/>
                </a:solidFill>
                <a:latin typeface="Nunito"/>
                <a:ea typeface="Nunito"/>
                <a:cs typeface="Nunito"/>
                <a:sym typeface="Nunito"/>
              </a:rPr>
              <a:t>traceability</a:t>
            </a:r>
          </a:p>
          <a:p>
            <a:pPr algn="ctr">
              <a:lnSpc>
                <a:spcPts val="3639"/>
              </a:lnSpc>
            </a:pPr>
          </a:p>
        </p:txBody>
      </p:sp>
      <p:sp>
        <p:nvSpPr>
          <p:cNvPr name="TextBox 15" id="15"/>
          <p:cNvSpPr txBox="true"/>
          <p:nvPr/>
        </p:nvSpPr>
        <p:spPr>
          <a:xfrm rot="0">
            <a:off x="5683272" y="7707919"/>
            <a:ext cx="6505039" cy="438785"/>
          </a:xfrm>
          <a:prstGeom prst="rect">
            <a:avLst/>
          </a:prstGeom>
        </p:spPr>
        <p:txBody>
          <a:bodyPr anchor="t" rtlCol="false" tIns="0" lIns="0" bIns="0" rIns="0">
            <a:spAutoFit/>
          </a:bodyPr>
          <a:lstStyle/>
          <a:p>
            <a:pPr algn="ctr">
              <a:lnSpc>
                <a:spcPts val="3639"/>
              </a:lnSpc>
            </a:pPr>
            <a:r>
              <a:rPr lang="en-US" sz="2599" b="true">
                <a:solidFill>
                  <a:srgbClr val="337271"/>
                </a:solidFill>
                <a:latin typeface="Nunito Bold"/>
                <a:ea typeface="Nunito Bold"/>
                <a:cs typeface="Nunito Bold"/>
                <a:sym typeface="Nunito Bold"/>
              </a:rPr>
              <a:t>Outcome</a:t>
            </a:r>
            <a:r>
              <a:rPr lang="en-US" sz="2599">
                <a:solidFill>
                  <a:srgbClr val="337271"/>
                </a:solidFill>
                <a:latin typeface="Nunito"/>
                <a:ea typeface="Nunito"/>
                <a:cs typeface="Nunito"/>
                <a:sym typeface="Nunito"/>
              </a:rPr>
              <a:t>: Raw d</a:t>
            </a:r>
            <a:r>
              <a:rPr lang="en-US" sz="2599">
                <a:solidFill>
                  <a:srgbClr val="337271"/>
                </a:solidFill>
                <a:latin typeface="Nunito"/>
                <a:ea typeface="Nunito"/>
                <a:cs typeface="Nunito"/>
                <a:sym typeface="Nunito"/>
              </a:rPr>
              <a:t>ata </a:t>
            </a:r>
            <a:r>
              <a:rPr lang="en-US" sz="2599">
                <a:solidFill>
                  <a:srgbClr val="337271"/>
                </a:solidFill>
                <a:latin typeface="Nunito"/>
                <a:ea typeface="Nunito"/>
                <a:cs typeface="Nunito"/>
                <a:sym typeface="Nunito"/>
              </a:rPr>
              <a:t>saf</a:t>
            </a:r>
            <a:r>
              <a:rPr lang="en-US" sz="2599">
                <a:solidFill>
                  <a:srgbClr val="337271"/>
                </a:solidFill>
                <a:latin typeface="Nunito"/>
                <a:ea typeface="Nunito"/>
                <a:cs typeface="Nunito"/>
                <a:sym typeface="Nunito"/>
              </a:rPr>
              <a:t>e</a:t>
            </a:r>
            <a:r>
              <a:rPr lang="en-US" sz="2599">
                <a:solidFill>
                  <a:srgbClr val="337271"/>
                </a:solidFill>
                <a:latin typeface="Nunito"/>
                <a:ea typeface="Nunito"/>
                <a:cs typeface="Nunito"/>
                <a:sym typeface="Nunito"/>
              </a:rPr>
              <a:t>ly </a:t>
            </a:r>
            <a:r>
              <a:rPr lang="en-US" sz="2599">
                <a:solidFill>
                  <a:srgbClr val="337271"/>
                </a:solidFill>
                <a:latin typeface="Nunito"/>
                <a:ea typeface="Nunito"/>
                <a:cs typeface="Nunito"/>
                <a:sym typeface="Nunito"/>
              </a:rPr>
              <a:t>st</a:t>
            </a:r>
            <a:r>
              <a:rPr lang="en-US" sz="2599">
                <a:solidFill>
                  <a:srgbClr val="337271"/>
                </a:solidFill>
                <a:latin typeface="Nunito"/>
                <a:ea typeface="Nunito"/>
                <a:cs typeface="Nunito"/>
                <a:sym typeface="Nunito"/>
              </a:rPr>
              <a:t>ored </a:t>
            </a:r>
            <a:r>
              <a:rPr lang="en-US" sz="2599">
                <a:solidFill>
                  <a:srgbClr val="337271"/>
                </a:solidFill>
                <a:latin typeface="Nunito"/>
                <a:ea typeface="Nunito"/>
                <a:cs typeface="Nunito"/>
                <a:sym typeface="Nunito"/>
              </a:rPr>
              <a:t>in </a:t>
            </a:r>
            <a:r>
              <a:rPr lang="en-US" sz="2599">
                <a:solidFill>
                  <a:srgbClr val="337271"/>
                </a:solidFill>
                <a:latin typeface="Nunito"/>
                <a:ea typeface="Nunito"/>
                <a:cs typeface="Nunito"/>
                <a:sym typeface="Nunito"/>
              </a:rPr>
              <a:t>cl</a:t>
            </a:r>
            <a:r>
              <a:rPr lang="en-US" sz="2599">
                <a:solidFill>
                  <a:srgbClr val="337271"/>
                </a:solidFill>
                <a:latin typeface="Nunito"/>
                <a:ea typeface="Nunito"/>
                <a:cs typeface="Nunito"/>
                <a:sym typeface="Nunito"/>
              </a:rPr>
              <a:t>o</a:t>
            </a:r>
            <a:r>
              <a:rPr lang="en-US" sz="2599">
                <a:solidFill>
                  <a:srgbClr val="337271"/>
                </a:solidFill>
                <a:latin typeface="Nunito"/>
                <a:ea typeface="Nunito"/>
                <a:cs typeface="Nunito"/>
                <a:sym typeface="Nunito"/>
              </a:rPr>
              <a:t>ud.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3512678" y="3614092"/>
            <a:ext cx="1393186" cy="1125001"/>
            <a:chOff x="0" y="0"/>
            <a:chExt cx="366930" cy="296297"/>
          </a:xfrm>
        </p:grpSpPr>
        <p:sp>
          <p:nvSpPr>
            <p:cNvPr name="Freeform 4" id="4"/>
            <p:cNvSpPr/>
            <p:nvPr/>
          </p:nvSpPr>
          <p:spPr>
            <a:xfrm flipH="false" flipV="false" rot="0">
              <a:off x="0" y="0"/>
              <a:ext cx="366930" cy="296297"/>
            </a:xfrm>
            <a:custGeom>
              <a:avLst/>
              <a:gdLst/>
              <a:ahLst/>
              <a:cxnLst/>
              <a:rect r="r" b="b" t="t" l="l"/>
              <a:pathLst>
                <a:path h="296297" w="366930">
                  <a:moveTo>
                    <a:pt x="0" y="0"/>
                  </a:moveTo>
                  <a:lnTo>
                    <a:pt x="366930" y="0"/>
                  </a:lnTo>
                  <a:lnTo>
                    <a:pt x="366930" y="296297"/>
                  </a:lnTo>
                  <a:lnTo>
                    <a:pt x="0" y="296297"/>
                  </a:lnTo>
                  <a:close/>
                </a:path>
              </a:pathLst>
            </a:custGeom>
            <a:solidFill>
              <a:srgbClr val="337271"/>
            </a:solidFill>
            <a:ln cap="sq">
              <a:noFill/>
              <a:prstDash val="solid"/>
              <a:miter/>
            </a:ln>
          </p:spPr>
        </p:sp>
        <p:sp>
          <p:nvSpPr>
            <p:cNvPr name="TextBox 5" id="5"/>
            <p:cNvSpPr txBox="true"/>
            <p:nvPr/>
          </p:nvSpPr>
          <p:spPr>
            <a:xfrm>
              <a:off x="0" y="-38100"/>
              <a:ext cx="366930" cy="3343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046771" y="4461140"/>
            <a:ext cx="13778041" cy="4118257"/>
            <a:chOff x="0" y="0"/>
            <a:chExt cx="3628785" cy="1084644"/>
          </a:xfrm>
        </p:grpSpPr>
        <p:sp>
          <p:nvSpPr>
            <p:cNvPr name="Freeform 7" id="7"/>
            <p:cNvSpPr/>
            <p:nvPr/>
          </p:nvSpPr>
          <p:spPr>
            <a:xfrm flipH="false" flipV="false" rot="0">
              <a:off x="0" y="0"/>
              <a:ext cx="3628785" cy="1084644"/>
            </a:xfrm>
            <a:custGeom>
              <a:avLst/>
              <a:gdLst/>
              <a:ahLst/>
              <a:cxnLst/>
              <a:rect r="r" b="b" t="t" l="l"/>
              <a:pathLst>
                <a:path h="1084644" w="3628785">
                  <a:moveTo>
                    <a:pt x="56190" y="0"/>
                  </a:moveTo>
                  <a:lnTo>
                    <a:pt x="3572594" y="0"/>
                  </a:lnTo>
                  <a:cubicBezTo>
                    <a:pt x="3603627" y="0"/>
                    <a:pt x="3628785" y="25157"/>
                    <a:pt x="3628785" y="56190"/>
                  </a:cubicBezTo>
                  <a:lnTo>
                    <a:pt x="3628785" y="1028454"/>
                  </a:lnTo>
                  <a:cubicBezTo>
                    <a:pt x="3628785" y="1043356"/>
                    <a:pt x="3622865" y="1057648"/>
                    <a:pt x="3612327" y="1068186"/>
                  </a:cubicBezTo>
                  <a:cubicBezTo>
                    <a:pt x="3601789" y="1078724"/>
                    <a:pt x="3587497" y="1084644"/>
                    <a:pt x="3572594" y="1084644"/>
                  </a:cubicBezTo>
                  <a:lnTo>
                    <a:pt x="56190" y="1084644"/>
                  </a:lnTo>
                  <a:cubicBezTo>
                    <a:pt x="25157" y="1084644"/>
                    <a:pt x="0" y="1059487"/>
                    <a:pt x="0" y="1028454"/>
                  </a:cubicBezTo>
                  <a:lnTo>
                    <a:pt x="0" y="56190"/>
                  </a:lnTo>
                  <a:cubicBezTo>
                    <a:pt x="0" y="25157"/>
                    <a:pt x="25157" y="0"/>
                    <a:pt x="56190" y="0"/>
                  </a:cubicBezTo>
                  <a:close/>
                </a:path>
              </a:pathLst>
            </a:custGeom>
            <a:ln w="47625" cap="rnd">
              <a:solidFill>
                <a:srgbClr val="337271"/>
              </a:solidFill>
              <a:prstDash val="lgDash"/>
              <a:round/>
            </a:ln>
          </p:spPr>
        </p:sp>
        <p:sp>
          <p:nvSpPr>
            <p:cNvPr name="TextBox 8" id="8"/>
            <p:cNvSpPr txBox="true"/>
            <p:nvPr/>
          </p:nvSpPr>
          <p:spPr>
            <a:xfrm>
              <a:off x="0" y="-38100"/>
              <a:ext cx="3628785" cy="1122744"/>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796206" y="800509"/>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Process</a:t>
            </a:r>
          </a:p>
        </p:txBody>
      </p:sp>
      <p:sp>
        <p:nvSpPr>
          <p:cNvPr name="TextBox 10" id="10"/>
          <p:cNvSpPr txBox="true"/>
          <p:nvPr/>
        </p:nvSpPr>
        <p:spPr>
          <a:xfrm rot="0">
            <a:off x="3138223" y="5773709"/>
            <a:ext cx="5542625" cy="18103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337271"/>
                </a:solidFill>
                <a:latin typeface="Nunito"/>
                <a:ea typeface="Nunito"/>
                <a:cs typeface="Nunito"/>
                <a:sym typeface="Nunito"/>
              </a:rPr>
              <a:t>Create Databricks workspace &amp; cluster</a:t>
            </a:r>
          </a:p>
          <a:p>
            <a:pPr algn="l" marL="561339" indent="-280669" lvl="1">
              <a:lnSpc>
                <a:spcPts val="3639"/>
              </a:lnSpc>
              <a:buFont typeface="Arial"/>
              <a:buChar char="•"/>
            </a:pPr>
            <a:r>
              <a:rPr lang="en-US" sz="2599">
                <a:solidFill>
                  <a:srgbClr val="337271"/>
                </a:solidFill>
                <a:latin typeface="Nunito"/>
                <a:ea typeface="Nunito"/>
                <a:cs typeface="Nunito"/>
                <a:sym typeface="Nunito"/>
              </a:rPr>
              <a:t>Connec</a:t>
            </a:r>
            <a:r>
              <a:rPr lang="en-US" sz="2599">
                <a:solidFill>
                  <a:srgbClr val="337271"/>
                </a:solidFill>
                <a:latin typeface="Nunito"/>
                <a:ea typeface="Nunito"/>
                <a:cs typeface="Nunito"/>
                <a:sym typeface="Nunito"/>
              </a:rPr>
              <a:t>t </a:t>
            </a:r>
            <a:r>
              <a:rPr lang="en-US" sz="2599">
                <a:solidFill>
                  <a:srgbClr val="337271"/>
                </a:solidFill>
                <a:latin typeface="Nunito"/>
                <a:ea typeface="Nunito"/>
                <a:cs typeface="Nunito"/>
                <a:sym typeface="Nunito"/>
              </a:rPr>
              <a:t>to Data Lake</a:t>
            </a:r>
          </a:p>
          <a:p>
            <a:pPr algn="ctr">
              <a:lnSpc>
                <a:spcPts val="3639"/>
              </a:lnSpc>
            </a:pPr>
          </a:p>
        </p:txBody>
      </p:sp>
      <p:sp>
        <p:nvSpPr>
          <p:cNvPr name="TextBox 11" id="11"/>
          <p:cNvSpPr txBox="true"/>
          <p:nvPr/>
        </p:nvSpPr>
        <p:spPr>
          <a:xfrm rot="0">
            <a:off x="3663257" y="3654305"/>
            <a:ext cx="1092028" cy="901700"/>
          </a:xfrm>
          <a:prstGeom prst="rect">
            <a:avLst/>
          </a:prstGeom>
        </p:spPr>
        <p:txBody>
          <a:bodyPr anchor="t" rtlCol="false" tIns="0" lIns="0" bIns="0" rIns="0">
            <a:spAutoFit/>
          </a:bodyPr>
          <a:lstStyle/>
          <a:p>
            <a:pPr algn="ctr">
              <a:lnSpc>
                <a:spcPts val="7000"/>
              </a:lnSpc>
            </a:pPr>
            <a:r>
              <a:rPr lang="en-US" sz="5000">
                <a:solidFill>
                  <a:srgbClr val="FFFFFF"/>
                </a:solidFill>
                <a:latin typeface="AC Diary Girl"/>
                <a:ea typeface="AC Diary Girl"/>
                <a:cs typeface="AC Diary Girl"/>
                <a:sym typeface="AC Diary Girl"/>
              </a:rPr>
              <a:t>2</a:t>
            </a:r>
          </a:p>
        </p:txBody>
      </p:sp>
      <p:sp>
        <p:nvSpPr>
          <p:cNvPr name="Freeform 12" id="12"/>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6626990" y="4857115"/>
            <a:ext cx="5561321" cy="438785"/>
          </a:xfrm>
          <a:prstGeom prst="rect">
            <a:avLst/>
          </a:prstGeom>
        </p:spPr>
        <p:txBody>
          <a:bodyPr anchor="t" rtlCol="false" tIns="0" lIns="0" bIns="0" rIns="0">
            <a:spAutoFit/>
          </a:bodyPr>
          <a:lstStyle/>
          <a:p>
            <a:pPr algn="ctr">
              <a:lnSpc>
                <a:spcPts val="3639"/>
              </a:lnSpc>
            </a:pPr>
            <a:r>
              <a:rPr lang="en-US" sz="2599" b="true">
                <a:solidFill>
                  <a:srgbClr val="337271"/>
                </a:solidFill>
                <a:latin typeface="Nunito Bold"/>
                <a:ea typeface="Nunito Bold"/>
                <a:cs typeface="Nunito Bold"/>
                <a:sym typeface="Nunito Bold"/>
              </a:rPr>
              <a:t> Data Transformation – Silver Layer</a:t>
            </a:r>
          </a:p>
        </p:txBody>
      </p:sp>
      <p:sp>
        <p:nvSpPr>
          <p:cNvPr name="TextBox 14" id="14"/>
          <p:cNvSpPr txBox="true"/>
          <p:nvPr/>
        </p:nvSpPr>
        <p:spPr>
          <a:xfrm rot="0">
            <a:off x="9144000" y="5673637"/>
            <a:ext cx="5842043" cy="27247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337271"/>
                </a:solidFill>
                <a:latin typeface="Nunito"/>
                <a:ea typeface="Nunito"/>
                <a:cs typeface="Nunito"/>
                <a:sym typeface="Nunito"/>
              </a:rPr>
              <a:t>Use PySpark for:</a:t>
            </a:r>
          </a:p>
          <a:p>
            <a:pPr algn="l" marL="1122678" indent="-374226" lvl="2">
              <a:lnSpc>
                <a:spcPts val="3639"/>
              </a:lnSpc>
              <a:buFont typeface="Arial"/>
              <a:buChar char="⚬"/>
            </a:pPr>
            <a:r>
              <a:rPr lang="en-US" sz="2599">
                <a:solidFill>
                  <a:srgbClr val="337271"/>
                </a:solidFill>
                <a:latin typeface="Nunito"/>
                <a:ea typeface="Nunito"/>
                <a:cs typeface="Nunito"/>
                <a:sym typeface="Nunito"/>
              </a:rPr>
              <a:t>Data cleaning</a:t>
            </a:r>
          </a:p>
          <a:p>
            <a:pPr algn="l" marL="1122678" indent="-374226" lvl="2">
              <a:lnSpc>
                <a:spcPts val="3639"/>
              </a:lnSpc>
              <a:buFont typeface="Arial"/>
              <a:buChar char="⚬"/>
            </a:pPr>
            <a:r>
              <a:rPr lang="en-US" sz="2599">
                <a:solidFill>
                  <a:srgbClr val="337271"/>
                </a:solidFill>
                <a:latin typeface="Nunito"/>
                <a:ea typeface="Nunito"/>
                <a:cs typeface="Nunito"/>
                <a:sym typeface="Nunito"/>
              </a:rPr>
              <a:t>Schema correction</a:t>
            </a:r>
          </a:p>
          <a:p>
            <a:pPr algn="l" marL="1122678" indent="-374226" lvl="2">
              <a:lnSpc>
                <a:spcPts val="3639"/>
              </a:lnSpc>
              <a:buFont typeface="Arial"/>
              <a:buChar char="⚬"/>
            </a:pPr>
            <a:r>
              <a:rPr lang="en-US" sz="2599">
                <a:solidFill>
                  <a:srgbClr val="337271"/>
                </a:solidFill>
                <a:latin typeface="Nunito"/>
                <a:ea typeface="Nunito"/>
                <a:cs typeface="Nunito"/>
                <a:sym typeface="Nunito"/>
              </a:rPr>
              <a:t>Filtering &amp; aggregatio</a:t>
            </a:r>
            <a:r>
              <a:rPr lang="en-US" sz="2599">
                <a:solidFill>
                  <a:srgbClr val="337271"/>
                </a:solidFill>
                <a:latin typeface="Nunito"/>
                <a:ea typeface="Nunito"/>
                <a:cs typeface="Nunito"/>
                <a:sym typeface="Nunito"/>
              </a:rPr>
              <a:t>n</a:t>
            </a:r>
          </a:p>
          <a:p>
            <a:pPr algn="l" marL="561339" indent="-280669" lvl="1">
              <a:lnSpc>
                <a:spcPts val="3639"/>
              </a:lnSpc>
              <a:buFont typeface="Arial"/>
              <a:buChar char="•"/>
            </a:pPr>
            <a:r>
              <a:rPr lang="en-US" sz="2599">
                <a:solidFill>
                  <a:srgbClr val="337271"/>
                </a:solidFill>
                <a:latin typeface="Nunito"/>
                <a:ea typeface="Nunito"/>
                <a:cs typeface="Nunito"/>
                <a:sym typeface="Nunito"/>
              </a:rPr>
              <a:t>Store</a:t>
            </a:r>
            <a:r>
              <a:rPr lang="en-US" sz="2599">
                <a:solidFill>
                  <a:srgbClr val="337271"/>
                </a:solidFill>
                <a:latin typeface="Nunito"/>
                <a:ea typeface="Nunito"/>
                <a:cs typeface="Nunito"/>
                <a:sym typeface="Nunito"/>
              </a:rPr>
              <a:t> processed d</a:t>
            </a:r>
            <a:r>
              <a:rPr lang="en-US" sz="2599">
                <a:solidFill>
                  <a:srgbClr val="337271"/>
                </a:solidFill>
                <a:latin typeface="Nunito"/>
                <a:ea typeface="Nunito"/>
                <a:cs typeface="Nunito"/>
                <a:sym typeface="Nunito"/>
              </a:rPr>
              <a:t>ata back in ADLS</a:t>
            </a:r>
          </a:p>
          <a:p>
            <a:pPr algn="ctr">
              <a:lnSpc>
                <a:spcPts val="3639"/>
              </a:lnSpc>
            </a:pPr>
          </a:p>
        </p:txBody>
      </p:sp>
      <p:sp>
        <p:nvSpPr>
          <p:cNvPr name="TextBox 15" id="15"/>
          <p:cNvSpPr txBox="true"/>
          <p:nvPr/>
        </p:nvSpPr>
        <p:spPr>
          <a:xfrm rot="0">
            <a:off x="2638961" y="7536469"/>
            <a:ext cx="6633361" cy="438785"/>
          </a:xfrm>
          <a:prstGeom prst="rect">
            <a:avLst/>
          </a:prstGeom>
        </p:spPr>
        <p:txBody>
          <a:bodyPr anchor="t" rtlCol="false" tIns="0" lIns="0" bIns="0" rIns="0">
            <a:spAutoFit/>
          </a:bodyPr>
          <a:lstStyle/>
          <a:p>
            <a:pPr algn="ctr">
              <a:lnSpc>
                <a:spcPts val="3639"/>
              </a:lnSpc>
            </a:pPr>
            <a:r>
              <a:rPr lang="en-US" sz="2599" b="true">
                <a:solidFill>
                  <a:srgbClr val="337271"/>
                </a:solidFill>
                <a:latin typeface="Nunito Bold"/>
                <a:ea typeface="Nunito Bold"/>
                <a:cs typeface="Nunito Bold"/>
                <a:sym typeface="Nunito Bold"/>
              </a:rPr>
              <a:t>Outcome</a:t>
            </a:r>
            <a:r>
              <a:rPr lang="en-US" sz="2599">
                <a:solidFill>
                  <a:srgbClr val="337271"/>
                </a:solidFill>
                <a:latin typeface="Nunito"/>
                <a:ea typeface="Nunito"/>
                <a:cs typeface="Nunito"/>
                <a:sym typeface="Nunito"/>
              </a:rPr>
              <a:t>: Clean, </a:t>
            </a:r>
            <a:r>
              <a:rPr lang="en-US" sz="2599">
                <a:solidFill>
                  <a:srgbClr val="337271"/>
                </a:solidFill>
                <a:latin typeface="Nunito"/>
                <a:ea typeface="Nunito"/>
                <a:cs typeface="Nunito"/>
                <a:sym typeface="Nunito"/>
              </a:rPr>
              <a:t>structu</a:t>
            </a:r>
            <a:r>
              <a:rPr lang="en-US" sz="2599">
                <a:solidFill>
                  <a:srgbClr val="337271"/>
                </a:solidFill>
                <a:latin typeface="Nunito"/>
                <a:ea typeface="Nunito"/>
                <a:cs typeface="Nunito"/>
                <a:sym typeface="Nunito"/>
              </a:rPr>
              <a:t>red, opt</a:t>
            </a:r>
            <a:r>
              <a:rPr lang="en-US" sz="2599">
                <a:solidFill>
                  <a:srgbClr val="337271"/>
                </a:solidFill>
                <a:latin typeface="Nunito"/>
                <a:ea typeface="Nunito"/>
                <a:cs typeface="Nunito"/>
                <a:sym typeface="Nunito"/>
              </a:rPr>
              <a:t>imized </a:t>
            </a:r>
            <a:r>
              <a:rPr lang="en-US" sz="2599">
                <a:solidFill>
                  <a:srgbClr val="337271"/>
                </a:solidFill>
                <a:latin typeface="Nunito"/>
                <a:ea typeface="Nunito"/>
                <a:cs typeface="Nunito"/>
                <a:sym typeface="Nunito"/>
              </a:rPr>
              <a:t>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3512678" y="3614092"/>
            <a:ext cx="1393186" cy="1125001"/>
            <a:chOff x="0" y="0"/>
            <a:chExt cx="366930" cy="296297"/>
          </a:xfrm>
        </p:grpSpPr>
        <p:sp>
          <p:nvSpPr>
            <p:cNvPr name="Freeform 4" id="4"/>
            <p:cNvSpPr/>
            <p:nvPr/>
          </p:nvSpPr>
          <p:spPr>
            <a:xfrm flipH="false" flipV="false" rot="0">
              <a:off x="0" y="0"/>
              <a:ext cx="366930" cy="296297"/>
            </a:xfrm>
            <a:custGeom>
              <a:avLst/>
              <a:gdLst/>
              <a:ahLst/>
              <a:cxnLst/>
              <a:rect r="r" b="b" t="t" l="l"/>
              <a:pathLst>
                <a:path h="296297" w="366930">
                  <a:moveTo>
                    <a:pt x="0" y="0"/>
                  </a:moveTo>
                  <a:lnTo>
                    <a:pt x="366930" y="0"/>
                  </a:lnTo>
                  <a:lnTo>
                    <a:pt x="366930" y="296297"/>
                  </a:lnTo>
                  <a:lnTo>
                    <a:pt x="0" y="296297"/>
                  </a:lnTo>
                  <a:close/>
                </a:path>
              </a:pathLst>
            </a:custGeom>
            <a:solidFill>
              <a:srgbClr val="337271"/>
            </a:solidFill>
            <a:ln cap="sq">
              <a:noFill/>
              <a:prstDash val="solid"/>
              <a:miter/>
            </a:ln>
          </p:spPr>
        </p:sp>
        <p:sp>
          <p:nvSpPr>
            <p:cNvPr name="TextBox 5" id="5"/>
            <p:cNvSpPr txBox="true"/>
            <p:nvPr/>
          </p:nvSpPr>
          <p:spPr>
            <a:xfrm>
              <a:off x="0" y="-38100"/>
              <a:ext cx="366930" cy="3343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046771" y="4461140"/>
            <a:ext cx="13778041" cy="4118257"/>
            <a:chOff x="0" y="0"/>
            <a:chExt cx="3628785" cy="1084644"/>
          </a:xfrm>
        </p:grpSpPr>
        <p:sp>
          <p:nvSpPr>
            <p:cNvPr name="Freeform 7" id="7"/>
            <p:cNvSpPr/>
            <p:nvPr/>
          </p:nvSpPr>
          <p:spPr>
            <a:xfrm flipH="false" flipV="false" rot="0">
              <a:off x="0" y="0"/>
              <a:ext cx="3628785" cy="1084644"/>
            </a:xfrm>
            <a:custGeom>
              <a:avLst/>
              <a:gdLst/>
              <a:ahLst/>
              <a:cxnLst/>
              <a:rect r="r" b="b" t="t" l="l"/>
              <a:pathLst>
                <a:path h="1084644" w="3628785">
                  <a:moveTo>
                    <a:pt x="56190" y="0"/>
                  </a:moveTo>
                  <a:lnTo>
                    <a:pt x="3572594" y="0"/>
                  </a:lnTo>
                  <a:cubicBezTo>
                    <a:pt x="3603627" y="0"/>
                    <a:pt x="3628785" y="25157"/>
                    <a:pt x="3628785" y="56190"/>
                  </a:cubicBezTo>
                  <a:lnTo>
                    <a:pt x="3628785" y="1028454"/>
                  </a:lnTo>
                  <a:cubicBezTo>
                    <a:pt x="3628785" y="1043356"/>
                    <a:pt x="3622865" y="1057648"/>
                    <a:pt x="3612327" y="1068186"/>
                  </a:cubicBezTo>
                  <a:cubicBezTo>
                    <a:pt x="3601789" y="1078724"/>
                    <a:pt x="3587497" y="1084644"/>
                    <a:pt x="3572594" y="1084644"/>
                  </a:cubicBezTo>
                  <a:lnTo>
                    <a:pt x="56190" y="1084644"/>
                  </a:lnTo>
                  <a:cubicBezTo>
                    <a:pt x="25157" y="1084644"/>
                    <a:pt x="0" y="1059487"/>
                    <a:pt x="0" y="1028454"/>
                  </a:cubicBezTo>
                  <a:lnTo>
                    <a:pt x="0" y="56190"/>
                  </a:lnTo>
                  <a:cubicBezTo>
                    <a:pt x="0" y="25157"/>
                    <a:pt x="25157" y="0"/>
                    <a:pt x="56190" y="0"/>
                  </a:cubicBezTo>
                  <a:close/>
                </a:path>
              </a:pathLst>
            </a:custGeom>
            <a:ln w="47625" cap="rnd">
              <a:solidFill>
                <a:srgbClr val="337271"/>
              </a:solidFill>
              <a:prstDash val="lgDash"/>
              <a:round/>
            </a:ln>
          </p:spPr>
        </p:sp>
        <p:sp>
          <p:nvSpPr>
            <p:cNvPr name="TextBox 8" id="8"/>
            <p:cNvSpPr txBox="true"/>
            <p:nvPr/>
          </p:nvSpPr>
          <p:spPr>
            <a:xfrm>
              <a:off x="0" y="-38100"/>
              <a:ext cx="3628785" cy="1122744"/>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796206" y="800509"/>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Process</a:t>
            </a:r>
          </a:p>
        </p:txBody>
      </p:sp>
      <p:sp>
        <p:nvSpPr>
          <p:cNvPr name="TextBox 10" id="10"/>
          <p:cNvSpPr txBox="true"/>
          <p:nvPr/>
        </p:nvSpPr>
        <p:spPr>
          <a:xfrm rot="0">
            <a:off x="3138223" y="5945159"/>
            <a:ext cx="5542625" cy="22675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337271"/>
                </a:solidFill>
                <a:latin typeface="Nunito"/>
                <a:ea typeface="Nunito"/>
                <a:cs typeface="Nunito"/>
                <a:sym typeface="Nunito"/>
              </a:rPr>
              <a:t>Create Synapse workspace</a:t>
            </a:r>
          </a:p>
          <a:p>
            <a:pPr algn="l" marL="561339" indent="-280669" lvl="1">
              <a:lnSpc>
                <a:spcPts val="3639"/>
              </a:lnSpc>
              <a:buFont typeface="Arial"/>
              <a:buChar char="•"/>
            </a:pPr>
            <a:r>
              <a:rPr lang="en-US" sz="2599">
                <a:solidFill>
                  <a:srgbClr val="337271"/>
                </a:solidFill>
                <a:latin typeface="Nunito"/>
                <a:ea typeface="Nunito"/>
                <a:cs typeface="Nunito"/>
                <a:sym typeface="Nunito"/>
              </a:rPr>
              <a:t>Us</a:t>
            </a:r>
            <a:r>
              <a:rPr lang="en-US" sz="2599">
                <a:solidFill>
                  <a:srgbClr val="337271"/>
                </a:solidFill>
                <a:latin typeface="Nunito"/>
                <a:ea typeface="Nunito"/>
                <a:cs typeface="Nunito"/>
                <a:sym typeface="Nunito"/>
              </a:rPr>
              <a:t>e</a:t>
            </a:r>
            <a:r>
              <a:rPr lang="en-US" sz="2599">
                <a:solidFill>
                  <a:srgbClr val="337271"/>
                </a:solidFill>
                <a:latin typeface="Nunito"/>
                <a:ea typeface="Nunito"/>
                <a:cs typeface="Nunito"/>
                <a:sym typeface="Nunito"/>
              </a:rPr>
              <a:t> OPENROWSET() &amp; Ex</a:t>
            </a:r>
            <a:r>
              <a:rPr lang="en-US" sz="2599">
                <a:solidFill>
                  <a:srgbClr val="337271"/>
                </a:solidFill>
                <a:latin typeface="Nunito"/>
                <a:ea typeface="Nunito"/>
                <a:cs typeface="Nunito"/>
                <a:sym typeface="Nunito"/>
              </a:rPr>
              <a:t>ternal T</a:t>
            </a:r>
            <a:r>
              <a:rPr lang="en-US" sz="2599">
                <a:solidFill>
                  <a:srgbClr val="337271"/>
                </a:solidFill>
                <a:latin typeface="Nunito"/>
                <a:ea typeface="Nunito"/>
                <a:cs typeface="Nunito"/>
                <a:sym typeface="Nunito"/>
              </a:rPr>
              <a:t>abl</a:t>
            </a:r>
            <a:r>
              <a:rPr lang="en-US" sz="2599">
                <a:solidFill>
                  <a:srgbClr val="337271"/>
                </a:solidFill>
                <a:latin typeface="Nunito"/>
                <a:ea typeface="Nunito"/>
                <a:cs typeface="Nunito"/>
                <a:sym typeface="Nunito"/>
              </a:rPr>
              <a:t>es</a:t>
            </a:r>
          </a:p>
          <a:p>
            <a:pPr algn="l">
              <a:lnSpc>
                <a:spcPts val="3639"/>
              </a:lnSpc>
            </a:pPr>
          </a:p>
          <a:p>
            <a:pPr algn="ctr">
              <a:lnSpc>
                <a:spcPts val="3639"/>
              </a:lnSpc>
            </a:pPr>
          </a:p>
        </p:txBody>
      </p:sp>
      <p:sp>
        <p:nvSpPr>
          <p:cNvPr name="TextBox 11" id="11"/>
          <p:cNvSpPr txBox="true"/>
          <p:nvPr/>
        </p:nvSpPr>
        <p:spPr>
          <a:xfrm rot="0">
            <a:off x="3663257" y="3654305"/>
            <a:ext cx="1092028" cy="901700"/>
          </a:xfrm>
          <a:prstGeom prst="rect">
            <a:avLst/>
          </a:prstGeom>
        </p:spPr>
        <p:txBody>
          <a:bodyPr anchor="t" rtlCol="false" tIns="0" lIns="0" bIns="0" rIns="0">
            <a:spAutoFit/>
          </a:bodyPr>
          <a:lstStyle/>
          <a:p>
            <a:pPr algn="ctr">
              <a:lnSpc>
                <a:spcPts val="7000"/>
              </a:lnSpc>
            </a:pPr>
            <a:r>
              <a:rPr lang="en-US" sz="5000">
                <a:solidFill>
                  <a:srgbClr val="FFFFFF"/>
                </a:solidFill>
                <a:latin typeface="AC Diary Girl"/>
                <a:ea typeface="AC Diary Girl"/>
                <a:cs typeface="AC Diary Girl"/>
                <a:sym typeface="AC Diary Girl"/>
              </a:rPr>
              <a:t>3</a:t>
            </a:r>
          </a:p>
        </p:txBody>
      </p:sp>
      <p:sp>
        <p:nvSpPr>
          <p:cNvPr name="Freeform 12" id="12"/>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5405242" y="4849208"/>
            <a:ext cx="7061100" cy="438785"/>
          </a:xfrm>
          <a:prstGeom prst="rect">
            <a:avLst/>
          </a:prstGeom>
        </p:spPr>
        <p:txBody>
          <a:bodyPr anchor="t" rtlCol="false" tIns="0" lIns="0" bIns="0" rIns="0">
            <a:spAutoFit/>
          </a:bodyPr>
          <a:lstStyle/>
          <a:p>
            <a:pPr algn="ctr">
              <a:lnSpc>
                <a:spcPts val="3639"/>
              </a:lnSpc>
            </a:pPr>
            <a:r>
              <a:rPr lang="en-US" sz="2599" b="true">
                <a:solidFill>
                  <a:srgbClr val="337271"/>
                </a:solidFill>
                <a:latin typeface="Nunito Bold"/>
                <a:ea typeface="Nunito Bold"/>
                <a:cs typeface="Nunito Bold"/>
                <a:sym typeface="Nunito Bold"/>
              </a:rPr>
              <a:t> Data Warehousing &amp; Analytics – Gold Layer</a:t>
            </a:r>
          </a:p>
        </p:txBody>
      </p:sp>
      <p:sp>
        <p:nvSpPr>
          <p:cNvPr name="TextBox 14" id="14"/>
          <p:cNvSpPr txBox="true"/>
          <p:nvPr/>
        </p:nvSpPr>
        <p:spPr>
          <a:xfrm rot="0">
            <a:off x="9144000" y="5945159"/>
            <a:ext cx="5842043" cy="18103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337271"/>
                </a:solidFill>
                <a:latin typeface="Nunito"/>
                <a:ea typeface="Nunito"/>
                <a:cs typeface="Nunito"/>
                <a:sym typeface="Nunito"/>
              </a:rPr>
              <a:t>Load structured data</a:t>
            </a:r>
          </a:p>
          <a:p>
            <a:pPr algn="l" marL="561339" indent="-280669" lvl="1">
              <a:lnSpc>
                <a:spcPts val="3639"/>
              </a:lnSpc>
              <a:buFont typeface="Arial"/>
              <a:buChar char="•"/>
            </a:pPr>
            <a:r>
              <a:rPr lang="en-US" sz="2599">
                <a:solidFill>
                  <a:srgbClr val="337271"/>
                </a:solidFill>
                <a:latin typeface="Nunito"/>
                <a:ea typeface="Nunito"/>
                <a:cs typeface="Nunito"/>
                <a:sym typeface="Nunito"/>
              </a:rPr>
              <a:t>Perform analytic</a:t>
            </a:r>
            <a:r>
              <a:rPr lang="en-US" sz="2599">
                <a:solidFill>
                  <a:srgbClr val="337271"/>
                </a:solidFill>
                <a:latin typeface="Nunito"/>
                <a:ea typeface="Nunito"/>
                <a:cs typeface="Nunito"/>
                <a:sym typeface="Nunito"/>
              </a:rPr>
              <a:t>al SQL quer</a:t>
            </a:r>
            <a:r>
              <a:rPr lang="en-US" sz="2599">
                <a:solidFill>
                  <a:srgbClr val="337271"/>
                </a:solidFill>
                <a:latin typeface="Nunito"/>
                <a:ea typeface="Nunito"/>
                <a:cs typeface="Nunito"/>
                <a:sym typeface="Nunito"/>
              </a:rPr>
              <a:t>ies</a:t>
            </a:r>
          </a:p>
          <a:p>
            <a:pPr algn="l" marL="561339" indent="-280669" lvl="1">
              <a:lnSpc>
                <a:spcPts val="3639"/>
              </a:lnSpc>
              <a:buFont typeface="Arial"/>
              <a:buChar char="•"/>
            </a:pPr>
            <a:r>
              <a:rPr lang="en-US" sz="2599">
                <a:solidFill>
                  <a:srgbClr val="337271"/>
                </a:solidFill>
                <a:latin typeface="Nunito"/>
                <a:ea typeface="Nunito"/>
                <a:cs typeface="Nunito"/>
                <a:sym typeface="Nunito"/>
              </a:rPr>
              <a:t>Integrate with P</a:t>
            </a:r>
            <a:r>
              <a:rPr lang="en-US" sz="2599">
                <a:solidFill>
                  <a:srgbClr val="337271"/>
                </a:solidFill>
                <a:latin typeface="Nunito"/>
                <a:ea typeface="Nunito"/>
                <a:cs typeface="Nunito"/>
                <a:sym typeface="Nunito"/>
              </a:rPr>
              <a:t>ower BI</a:t>
            </a:r>
          </a:p>
          <a:p>
            <a:pPr algn="ctr">
              <a:lnSpc>
                <a:spcPts val="3639"/>
              </a:lnSpc>
            </a:pPr>
          </a:p>
        </p:txBody>
      </p:sp>
      <p:sp>
        <p:nvSpPr>
          <p:cNvPr name="TextBox 15" id="15"/>
          <p:cNvSpPr txBox="true"/>
          <p:nvPr/>
        </p:nvSpPr>
        <p:spPr>
          <a:xfrm rot="0">
            <a:off x="5692797" y="7707919"/>
            <a:ext cx="6783069" cy="438785"/>
          </a:xfrm>
          <a:prstGeom prst="rect">
            <a:avLst/>
          </a:prstGeom>
        </p:spPr>
        <p:txBody>
          <a:bodyPr anchor="t" rtlCol="false" tIns="0" lIns="0" bIns="0" rIns="0">
            <a:spAutoFit/>
          </a:bodyPr>
          <a:lstStyle/>
          <a:p>
            <a:pPr algn="ctr">
              <a:lnSpc>
                <a:spcPts val="3639"/>
              </a:lnSpc>
            </a:pPr>
            <a:r>
              <a:rPr lang="en-US" sz="2599" b="true">
                <a:solidFill>
                  <a:srgbClr val="337271"/>
                </a:solidFill>
                <a:latin typeface="Nunito Bold"/>
                <a:ea typeface="Nunito Bold"/>
                <a:cs typeface="Nunito Bold"/>
                <a:sym typeface="Nunito Bold"/>
              </a:rPr>
              <a:t>Outcome</a:t>
            </a:r>
            <a:r>
              <a:rPr lang="en-US" sz="2599">
                <a:solidFill>
                  <a:srgbClr val="337271"/>
                </a:solidFill>
                <a:latin typeface="Nunito"/>
                <a:ea typeface="Nunito"/>
                <a:cs typeface="Nunito"/>
                <a:sym typeface="Nunito"/>
              </a:rPr>
              <a:t>:  Business-ready analytics d</a:t>
            </a:r>
            <a:r>
              <a:rPr lang="en-US" sz="2599">
                <a:solidFill>
                  <a:srgbClr val="337271"/>
                </a:solidFill>
                <a:latin typeface="Nunito"/>
                <a:ea typeface="Nunito"/>
                <a:cs typeface="Nunito"/>
                <a:sym typeface="Nunito"/>
              </a:rPr>
              <a:t>ataset.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0">
            <a:off x="-2099932" y="-1172339"/>
            <a:ext cx="6257264" cy="3629213"/>
          </a:xfrm>
          <a:custGeom>
            <a:avLst/>
            <a:gdLst/>
            <a:ahLst/>
            <a:cxnLst/>
            <a:rect r="r" b="b" t="t" l="l"/>
            <a:pathLst>
              <a:path h="3629213" w="6257264">
                <a:moveTo>
                  <a:pt x="0" y="0"/>
                </a:moveTo>
                <a:lnTo>
                  <a:pt x="6257264" y="0"/>
                </a:lnTo>
                <a:lnTo>
                  <a:pt x="6257264" y="3629214"/>
                </a:lnTo>
                <a:lnTo>
                  <a:pt x="0" y="3629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532791" y="3939083"/>
            <a:ext cx="6490010" cy="4841754"/>
          </a:xfrm>
          <a:custGeom>
            <a:avLst/>
            <a:gdLst/>
            <a:ahLst/>
            <a:cxnLst/>
            <a:rect r="r" b="b" t="t" l="l"/>
            <a:pathLst>
              <a:path h="4841754" w="6490010">
                <a:moveTo>
                  <a:pt x="0" y="0"/>
                </a:moveTo>
                <a:lnTo>
                  <a:pt x="6490010" y="0"/>
                </a:lnTo>
                <a:lnTo>
                  <a:pt x="6490010" y="4841754"/>
                </a:lnTo>
                <a:lnTo>
                  <a:pt x="0" y="4841754"/>
                </a:lnTo>
                <a:lnTo>
                  <a:pt x="0" y="0"/>
                </a:lnTo>
                <a:close/>
              </a:path>
            </a:pathLst>
          </a:custGeom>
          <a:blipFill>
            <a:blip r:embed="rId5"/>
            <a:stretch>
              <a:fillRect l="0" t="0" r="0" b="0"/>
            </a:stretch>
          </a:blipFill>
        </p:spPr>
      </p:sp>
      <p:sp>
        <p:nvSpPr>
          <p:cNvPr name="Freeform 5" id="5"/>
          <p:cNvSpPr/>
          <p:nvPr/>
        </p:nvSpPr>
        <p:spPr>
          <a:xfrm flipH="false" flipV="false" rot="0">
            <a:off x="15533991" y="6870677"/>
            <a:ext cx="2977619" cy="4114800"/>
          </a:xfrm>
          <a:custGeom>
            <a:avLst/>
            <a:gdLst/>
            <a:ahLst/>
            <a:cxnLst/>
            <a:rect r="r" b="b" t="t" l="l"/>
            <a:pathLst>
              <a:path h="4114800" w="2977619">
                <a:moveTo>
                  <a:pt x="0" y="0"/>
                </a:moveTo>
                <a:lnTo>
                  <a:pt x="2977619" y="0"/>
                </a:lnTo>
                <a:lnTo>
                  <a:pt x="297761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6654090" y="1630129"/>
            <a:ext cx="4979821"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Result</a:t>
            </a:r>
          </a:p>
        </p:txBody>
      </p:sp>
      <p:sp>
        <p:nvSpPr>
          <p:cNvPr name="TextBox 7" id="7"/>
          <p:cNvSpPr txBox="true"/>
          <p:nvPr/>
        </p:nvSpPr>
        <p:spPr>
          <a:xfrm rot="0">
            <a:off x="2080967" y="4184627"/>
            <a:ext cx="8059222" cy="53149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337271"/>
                </a:solidFill>
                <a:latin typeface="Nunito"/>
                <a:ea typeface="Nunito"/>
                <a:cs typeface="Nunito"/>
                <a:sym typeface="Nunito"/>
              </a:rPr>
              <a:t>Successfully built an End-to-End Azure Data Pipeline.</a:t>
            </a:r>
          </a:p>
          <a:p>
            <a:pPr algn="l" marL="647700" indent="-323850" lvl="1">
              <a:lnSpc>
                <a:spcPts val="4200"/>
              </a:lnSpc>
              <a:buFont typeface="Arial"/>
              <a:buChar char="•"/>
            </a:pPr>
            <a:r>
              <a:rPr lang="en-US" sz="3000">
                <a:solidFill>
                  <a:srgbClr val="337271"/>
                </a:solidFill>
                <a:latin typeface="Nunito"/>
                <a:ea typeface="Nunito"/>
                <a:cs typeface="Nunito"/>
                <a:sym typeface="Nunito"/>
              </a:rPr>
              <a:t>Automated ingestion and transformation process.</a:t>
            </a:r>
          </a:p>
          <a:p>
            <a:pPr algn="l" marL="647700" indent="-323850" lvl="1">
              <a:lnSpc>
                <a:spcPts val="4200"/>
              </a:lnSpc>
              <a:buFont typeface="Arial"/>
              <a:buChar char="•"/>
            </a:pPr>
            <a:r>
              <a:rPr lang="en-US" sz="3000">
                <a:solidFill>
                  <a:srgbClr val="337271"/>
                </a:solidFill>
                <a:latin typeface="Nunito"/>
                <a:ea typeface="Nunito"/>
                <a:cs typeface="Nunito"/>
                <a:sym typeface="Nunito"/>
              </a:rPr>
              <a:t>Implemented scalable Medallion Architecture.</a:t>
            </a:r>
          </a:p>
          <a:p>
            <a:pPr algn="l" marL="647700" indent="-323850" lvl="1">
              <a:lnSpc>
                <a:spcPts val="4200"/>
              </a:lnSpc>
              <a:buFont typeface="Arial"/>
              <a:buChar char="•"/>
            </a:pPr>
            <a:r>
              <a:rPr lang="en-US" sz="3000">
                <a:solidFill>
                  <a:srgbClr val="337271"/>
                </a:solidFill>
                <a:latin typeface="Nunito"/>
                <a:ea typeface="Nunito"/>
                <a:cs typeface="Nunito"/>
                <a:sym typeface="Nunito"/>
              </a:rPr>
              <a:t>Enabled SQL-based analytics and dashboard integration.</a:t>
            </a:r>
          </a:p>
          <a:p>
            <a:pPr algn="l" marL="647700" indent="-323850" lvl="1">
              <a:lnSpc>
                <a:spcPts val="4200"/>
              </a:lnSpc>
              <a:buFont typeface="Arial"/>
              <a:buChar char="•"/>
            </a:pPr>
            <a:r>
              <a:rPr lang="en-US" sz="3000">
                <a:solidFill>
                  <a:srgbClr val="337271"/>
                </a:solidFill>
                <a:latin typeface="Nunito"/>
                <a:ea typeface="Nunito"/>
                <a:cs typeface="Nunito"/>
                <a:sym typeface="Nunito"/>
              </a:rPr>
              <a:t>Demonstrated real-world data engineering workflow.</a:t>
            </a:r>
          </a:p>
        </p:txBody>
      </p:sp>
      <p:sp>
        <p:nvSpPr>
          <p:cNvPr name="TextBox 8" id="8"/>
          <p:cNvSpPr txBox="true"/>
          <p:nvPr/>
        </p:nvSpPr>
        <p:spPr>
          <a:xfrm rot="0">
            <a:off x="11081216" y="2487378"/>
            <a:ext cx="1855495" cy="526054"/>
          </a:xfrm>
          <a:prstGeom prst="rect">
            <a:avLst/>
          </a:prstGeom>
        </p:spPr>
        <p:txBody>
          <a:bodyPr anchor="t" rtlCol="false" tIns="0" lIns="0" bIns="0" rIns="0">
            <a:spAutoFit/>
          </a:bodyPr>
          <a:lstStyle/>
          <a:p>
            <a:pPr algn="ctr">
              <a:lnSpc>
                <a:spcPts val="4045"/>
              </a:lnSpc>
            </a:pPr>
            <a:r>
              <a:rPr lang="en-US" sz="2889">
                <a:solidFill>
                  <a:srgbClr val="337271"/>
                </a:solidFill>
                <a:latin typeface="AC Diary Girl"/>
                <a:ea typeface="AC Diary Girl"/>
                <a:cs typeface="AC Diary Girl"/>
                <a:sym typeface="AC Diary Girl"/>
              </a:rPr>
              <a:t>Expected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TextBox 3" id="3"/>
          <p:cNvSpPr txBox="true"/>
          <p:nvPr/>
        </p:nvSpPr>
        <p:spPr>
          <a:xfrm rot="0">
            <a:off x="4796206" y="2199700"/>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Conclusion</a:t>
            </a:r>
          </a:p>
        </p:txBody>
      </p:sp>
      <p:sp>
        <p:nvSpPr>
          <p:cNvPr name="TextBox 4" id="4"/>
          <p:cNvSpPr txBox="true"/>
          <p:nvPr/>
        </p:nvSpPr>
        <p:spPr>
          <a:xfrm rot="0">
            <a:off x="1974976" y="4115375"/>
            <a:ext cx="14338047" cy="37147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This project demonstrates how modern cloud technologies can transform raw, unstructured data into actionable insights using Azure’s ecosystem. By integrating Data Factory, Data Lake, Databricks, and Synapse, the system ensures scalability, automation, and high-performance analytics.</a:t>
            </a:r>
          </a:p>
          <a:p>
            <a:pPr algn="ctr">
              <a:lnSpc>
                <a:spcPts val="4200"/>
              </a:lnSpc>
            </a:pPr>
            <a:r>
              <a:rPr lang="en-US" sz="3000">
                <a:solidFill>
                  <a:srgbClr val="337271"/>
                </a:solidFill>
                <a:latin typeface="Nunito"/>
                <a:ea typeface="Nunito"/>
                <a:cs typeface="Nunito"/>
                <a:sym typeface="Nunito"/>
              </a:rPr>
              <a:t>The solution reflects industry-standard data engineering practices and prepares the system for real-time processing, big data workloads, and enterprise-level reporting.</a:t>
            </a:r>
          </a:p>
          <a:p>
            <a:pPr algn="ctr">
              <a:lnSpc>
                <a:spcPts val="4200"/>
              </a:lnSpc>
            </a:pPr>
          </a:p>
        </p:txBody>
      </p:sp>
      <p:sp>
        <p:nvSpPr>
          <p:cNvPr name="Freeform 5" id="5"/>
          <p:cNvSpPr/>
          <p:nvPr/>
        </p:nvSpPr>
        <p:spPr>
          <a:xfrm flipH="true" flipV="false" rot="0">
            <a:off x="15690050" y="7739359"/>
            <a:ext cx="3551363" cy="1646945"/>
          </a:xfrm>
          <a:custGeom>
            <a:avLst/>
            <a:gdLst/>
            <a:ahLst/>
            <a:cxnLst/>
            <a:rect r="r" b="b" t="t" l="l"/>
            <a:pathLst>
              <a:path h="1646945" w="3551363">
                <a:moveTo>
                  <a:pt x="3551363" y="0"/>
                </a:moveTo>
                <a:lnTo>
                  <a:pt x="0" y="0"/>
                </a:lnTo>
                <a:lnTo>
                  <a:pt x="0" y="1646944"/>
                </a:lnTo>
                <a:lnTo>
                  <a:pt x="3551363" y="1646944"/>
                </a:lnTo>
                <a:lnTo>
                  <a:pt x="355136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746982" y="1028700"/>
            <a:ext cx="3551363" cy="1646945"/>
          </a:xfrm>
          <a:custGeom>
            <a:avLst/>
            <a:gdLst/>
            <a:ahLst/>
            <a:cxnLst/>
            <a:rect r="r" b="b" t="t" l="l"/>
            <a:pathLst>
              <a:path h="1646945" w="3551363">
                <a:moveTo>
                  <a:pt x="0" y="0"/>
                </a:moveTo>
                <a:lnTo>
                  <a:pt x="3551364" y="0"/>
                </a:lnTo>
                <a:lnTo>
                  <a:pt x="3551364" y="1646945"/>
                </a:lnTo>
                <a:lnTo>
                  <a:pt x="0" y="1646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TextBox 3" id="3"/>
          <p:cNvSpPr txBox="true"/>
          <p:nvPr/>
        </p:nvSpPr>
        <p:spPr>
          <a:xfrm rot="0">
            <a:off x="6465218" y="3200400"/>
            <a:ext cx="8695587" cy="4038600"/>
          </a:xfrm>
          <a:prstGeom prst="rect">
            <a:avLst/>
          </a:prstGeom>
        </p:spPr>
        <p:txBody>
          <a:bodyPr anchor="t" rtlCol="false" tIns="0" lIns="0" bIns="0" rIns="0">
            <a:spAutoFit/>
          </a:bodyPr>
          <a:lstStyle/>
          <a:p>
            <a:pPr algn="ctr">
              <a:lnSpc>
                <a:spcPts val="15000"/>
              </a:lnSpc>
            </a:pPr>
            <a:r>
              <a:rPr lang="en-US" sz="15000">
                <a:solidFill>
                  <a:srgbClr val="337271"/>
                </a:solidFill>
                <a:latin typeface="AC Diary Girl"/>
                <a:ea typeface="AC Diary Girl"/>
                <a:cs typeface="AC Diary Girl"/>
                <a:sym typeface="AC Diary Girl"/>
              </a:rPr>
              <a:t>Thank You</a:t>
            </a:r>
          </a:p>
        </p:txBody>
      </p:sp>
      <p:sp>
        <p:nvSpPr>
          <p:cNvPr name="Freeform 4" id="4"/>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062311" y="8487580"/>
            <a:ext cx="4196989" cy="770720"/>
          </a:xfrm>
          <a:custGeom>
            <a:avLst/>
            <a:gdLst/>
            <a:ahLst/>
            <a:cxnLst/>
            <a:rect r="r" b="b" t="t" l="l"/>
            <a:pathLst>
              <a:path h="770720" w="4196989">
                <a:moveTo>
                  <a:pt x="0" y="0"/>
                </a:moveTo>
                <a:lnTo>
                  <a:pt x="4196989" y="0"/>
                </a:lnTo>
                <a:lnTo>
                  <a:pt x="4196989" y="770720"/>
                </a:lnTo>
                <a:lnTo>
                  <a:pt x="0" y="7707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18246">
            <a:off x="3423654" y="3579497"/>
            <a:ext cx="4333509" cy="3128006"/>
          </a:xfrm>
          <a:custGeom>
            <a:avLst/>
            <a:gdLst/>
            <a:ahLst/>
            <a:cxnLst/>
            <a:rect r="r" b="b" t="t" l="l"/>
            <a:pathLst>
              <a:path h="3128006" w="4333509">
                <a:moveTo>
                  <a:pt x="0" y="0"/>
                </a:moveTo>
                <a:lnTo>
                  <a:pt x="4333509" y="0"/>
                </a:lnTo>
                <a:lnTo>
                  <a:pt x="4333509" y="3128006"/>
                </a:lnTo>
                <a:lnTo>
                  <a:pt x="0" y="31280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DAHBv28O78g</dc:identifier>
  <dcterms:modified xsi:type="dcterms:W3CDTF">2011-08-01T06:04:30Z</dcterms:modified>
  <cp:revision>1</cp:revision>
  <dc:title>Green and Beige Simple Project Presentation</dc:title>
</cp:coreProperties>
</file>